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426"/>
  </p:normalViewPr>
  <p:slideViewPr>
    <p:cSldViewPr snapToGrid="0">
      <p:cViewPr varScale="1">
        <p:scale>
          <a:sx n="118" d="100"/>
          <a:sy n="118" d="100"/>
        </p:scale>
        <p:origin x="1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Hi everyone, my project is called "U.S. Retail Gasoline Price Forecast."</a:t>
            </a:r>
          </a:p>
          <a:p>
            <a:endParaRPr dirty="0"/>
          </a:p>
          <a:p>
            <a:r>
              <a:rPr dirty="0"/>
              <a:t>The goal is to build a full stack data science application, not just a model in a notebook. The app collects weekly U.S. gasoline price data from the EIA, turns that time series into model features, trains two forecasting models, and then serves predictions through a Flask API. A separate </a:t>
            </a:r>
            <a:r>
              <a:rPr dirty="0" err="1"/>
              <a:t>Streamlit</a:t>
            </a:r>
            <a:r>
              <a:rPr dirty="0"/>
              <a:t> dashboard calls that API so users can choose the forecasting method and forecast horizon interactively.</a:t>
            </a:r>
          </a:p>
          <a:p>
            <a:endParaRPr dirty="0"/>
          </a:p>
          <a:p>
            <a:r>
              <a:rPr dirty="0"/>
              <a:t>The current dataset has 1,729 weekly observations from 1993 through May 18, 2026. I serve two models, </a:t>
            </a:r>
            <a:r>
              <a:rPr dirty="0" err="1"/>
              <a:t>XGBoost</a:t>
            </a:r>
            <a:r>
              <a:rPr dirty="0"/>
              <a:t> and SARIMA, and the final project is deployed as two live services: one Cloud Run service for the Flask model API and another Cloud Run service for the </a:t>
            </a:r>
            <a:r>
              <a:rPr dirty="0" err="1"/>
              <a:t>Streamlit</a:t>
            </a:r>
            <a:r>
              <a:rPr dirty="0"/>
              <a:t> interface.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motivation is that gasoline prices are familiar, visible, and volatile. Most people understand the impact of gas prices, but it is hard to look at a raw weekly table and get an intuitive sense of where prices may move in the short term.</a:t>
            </a:r>
          </a:p>
          <a:p>
            <a:endParaRPr/>
          </a:p>
          <a:p>
            <a:r>
              <a:t>In this dataset, the lowest historical national weekly price is about 94.9 cents per gallon, while the highest is about 5.107 dollars per gallon. The latest observation in my snapshot is 4.621 dollars per gallon for May 18, 2026. That range shows why this is a useful forecasting problem: the target variable can move a lot over time, and even short-term changes matter for planning.</a:t>
            </a:r>
          </a:p>
          <a:p>
            <a:endParaRPr/>
          </a:p>
          <a:p>
            <a:r>
              <a:t>The user problem I wanted to solve is not just "can we train a model?" It is "can someone interact with the model easily?" So the app lets a user select XGBoost or SARIMA, choose a forecast horizon, and get a chart and table back from the deployed model API.</a:t>
            </a:r>
          </a:p>
          <a:p>
            <a:endParaRPr/>
          </a:p>
          <a:p>
            <a:r>
              <a:t>My project objectives were three things: first, collect and process real public data; second, compare more than one forecasting approach; and third, deploy the app and API separately so the architecture looks like a real data product rather than a local script.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shows the data pipeline.</a:t>
            </a:r>
          </a:p>
          <a:p>
            <a:endParaRPr dirty="0"/>
          </a:p>
          <a:p>
            <a:r>
              <a:rPr dirty="0"/>
              <a:t>The data source is the EIA Open Data API, specifically weekly U.S. retail gasoline prices. The project also has a synthetic fallback for testing or local runs without an API key, but the final data snapshot uses the real EIA series.</a:t>
            </a:r>
          </a:p>
          <a:p>
            <a:endParaRPr dirty="0"/>
          </a:p>
          <a:p>
            <a:r>
              <a:rPr dirty="0"/>
              <a:t>After collection, the raw data is cleaned into a simple weekly table. The pipeline sorts by date, converts price values to numeric format, removes duplicate weeks, and saves a raw CSV snapshot. Keeping that raw snapshot is useful because the deployed API can serve forecasts from the same data version that the models were trained on.</a:t>
            </a:r>
          </a:p>
          <a:p>
            <a:endParaRPr dirty="0"/>
          </a:p>
          <a:p>
            <a:r>
              <a:rPr dirty="0"/>
              <a:t>For feature engineering, I keep the model frame intentionally explainable. The </a:t>
            </a:r>
            <a:r>
              <a:rPr dirty="0" err="1"/>
              <a:t>XGBoost</a:t>
            </a:r>
            <a:r>
              <a:rPr dirty="0"/>
              <a:t> model uses lag features at 1, 2, 4, 8, and 52 weeks. Those lags represent recent level, short-term momentum, and yearly seasonality. I also include month and ISO week features to represent calendar patterns.</a:t>
            </a:r>
          </a:p>
          <a:p>
            <a:endParaRPr dirty="0"/>
          </a:p>
          <a:p>
            <a:r>
              <a:rPr dirty="0"/>
              <a:t>This matters because gasoline prices have both short-term movement and seasonal structure. Rather than adding many hard-to-explain variables, I wanted a compact feature set that I could explain clearly during the presentation.</a:t>
            </a:r>
          </a:p>
          <a:p>
            <a:endParaRPr dirty="0"/>
          </a:p>
          <a:p>
            <a:r>
              <a:rPr dirty="0"/>
              <a:t>The final dataset contains 1,729 rows spanning April 5, 1993 through May 18,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 trained and evaluated two forecasting approaches: </a:t>
            </a:r>
            <a:r>
              <a:rPr dirty="0" err="1"/>
              <a:t>XGBoost</a:t>
            </a:r>
            <a:r>
              <a:rPr dirty="0"/>
              <a:t> and SARIMA.</a:t>
            </a:r>
          </a:p>
          <a:p>
            <a:endParaRPr dirty="0"/>
          </a:p>
          <a:p>
            <a:r>
              <a:rPr dirty="0" err="1"/>
              <a:t>XGBoost</a:t>
            </a:r>
            <a:r>
              <a:rPr dirty="0"/>
              <a:t> is the default model in the app. It uses the lag and calendar features from the previous slide, and it forecasts recursively. That means for a multi-week forecast, the model predicts the next week, feeds that prediction back into the lag features, and continues forward for the selected horizon.</a:t>
            </a:r>
          </a:p>
          <a:p>
            <a:endParaRPr dirty="0"/>
          </a:p>
          <a:p>
            <a:r>
              <a:rPr dirty="0"/>
              <a:t>SARIMA is my baseline time-series model. It is a univariate seasonal model using the specification SARIMA(1,1,1)(1,1,1,52). The seasonal period of 52 is chosen because the data is weekly and gasoline prices often show annual seasonality.</a:t>
            </a:r>
          </a:p>
          <a:p>
            <a:endParaRPr dirty="0"/>
          </a:p>
          <a:p>
            <a:r>
              <a:rPr dirty="0"/>
              <a:t>For evaluation, I used a 52-week holdout window. </a:t>
            </a:r>
            <a:r>
              <a:rPr dirty="0" err="1"/>
              <a:t>XGBoost</a:t>
            </a:r>
            <a:r>
              <a:rPr dirty="0"/>
              <a:t> performed better on this holdout. Its MAE is about 0.0579 dollars per gallon and RMSE is about 0.1004. SARIMA's MAE is about 0.2386 and RMSE is about 0.4217.</a:t>
            </a:r>
          </a:p>
          <a:p>
            <a:endParaRPr dirty="0"/>
          </a:p>
          <a:p>
            <a:r>
              <a:rPr dirty="0"/>
              <a:t>The main interpretation is that recent lagged prices carry a strong short-term signal. SARIMA gives a useful time-series baseline, but in this project the lag-based </a:t>
            </a:r>
            <a:r>
              <a:rPr dirty="0" err="1"/>
              <a:t>XGBoost</a:t>
            </a:r>
            <a:r>
              <a:rPr dirty="0"/>
              <a:t> model captured the short-term structure better. That is why </a:t>
            </a:r>
            <a:r>
              <a:rPr dirty="0" err="1"/>
              <a:t>XGBoost</a:t>
            </a:r>
            <a:r>
              <a:rPr dirty="0"/>
              <a:t> is the default option in the deployed app, while SARIMA remains available for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shows the deployed architecture.</a:t>
            </a:r>
          </a:p>
          <a:p>
            <a:endParaRPr dirty="0"/>
          </a:p>
          <a:p>
            <a:r>
              <a:rPr dirty="0"/>
              <a:t>The data starts at the EIA API and is saved as a raw CSV snapshot. Then the training pipeline creates the model artifacts, including the </a:t>
            </a:r>
            <a:r>
              <a:rPr dirty="0" err="1"/>
              <a:t>XGBoost</a:t>
            </a:r>
            <a:r>
              <a:rPr dirty="0"/>
              <a:t> model and a compact SARIMA representation. </a:t>
            </a:r>
            <a:r>
              <a:t>Those files are packaged into the API container.</a:t>
            </a:r>
          </a:p>
          <a:p>
            <a:endParaRPr/>
          </a:p>
          <a:p>
            <a:r>
              <a:rPr dirty="0"/>
              <a:t>At runtime, the Flask API exposes endpoints such as /health, /metadata, and /predict. The </a:t>
            </a:r>
            <a:r>
              <a:rPr dirty="0" err="1"/>
              <a:t>Streamlit</a:t>
            </a:r>
            <a:r>
              <a:rPr dirty="0"/>
              <a:t> app is a separate Cloud Run service. It does not load the model directly. Instead, it sends a POST request to the Flask API and receives forecast JSON back.</a:t>
            </a:r>
          </a:p>
          <a:p>
            <a:endParaRPr dirty="0"/>
          </a:p>
          <a:p>
            <a:r>
              <a:rPr dirty="0"/>
              <a:t>I deployed the two services separately on Google Cloud Run. This was important for the course requirement, but it is also a better architecture. The UI can change without rebuilding the model API, and the API can be tested directly with tools like curl or Postman.</a:t>
            </a:r>
          </a:p>
          <a:p>
            <a:endParaRPr dirty="0"/>
          </a:p>
          <a:p>
            <a:r>
              <a:rPr dirty="0"/>
              <a:t>One challenge here was that SARIMA initially produced a very large model artifact. That made deployment slow and impractical, so I changed the storage approach to keep compact parameters instead of saving a huge fitted object. I also set the API memory to 1 GiB on Cloud Run so SARIMA forecasts would not cause the instance to terminate.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live demo slide.</a:t>
            </a:r>
          </a:p>
          <a:p>
            <a:endParaRPr dirty="0"/>
          </a:p>
          <a:p>
            <a:r>
              <a:rPr dirty="0"/>
              <a:t>The user workflow has four steps. First, the user chooses the model method in the sidebar, either </a:t>
            </a:r>
            <a:r>
              <a:rPr dirty="0" err="1"/>
              <a:t>XGBoost</a:t>
            </a:r>
            <a:r>
              <a:rPr dirty="0"/>
              <a:t> or SARIMA. Second, the user sets the forecast horizon from 1 to 26 weeks. Third, </a:t>
            </a:r>
            <a:r>
              <a:rPr dirty="0" err="1"/>
              <a:t>Streamlit</a:t>
            </a:r>
            <a:r>
              <a:rPr dirty="0"/>
              <a:t> sends the request to the Flask API. Fourth, the app displays the forecast as both a chart and a table.</a:t>
            </a:r>
          </a:p>
          <a:p>
            <a:endParaRPr dirty="0"/>
          </a:p>
          <a:p>
            <a:r>
              <a:rPr dirty="0"/>
              <a:t>For the demo, I would first open the </a:t>
            </a:r>
            <a:r>
              <a:rPr dirty="0" err="1"/>
              <a:t>Streamlit</a:t>
            </a:r>
            <a:r>
              <a:rPr dirty="0"/>
              <a:t> app:</a:t>
            </a:r>
          </a:p>
          <a:p>
            <a:endParaRPr dirty="0"/>
          </a:p>
          <a:p>
            <a:r>
              <a:rPr dirty="0"/>
              <a:t>https://fuel-price-</a:t>
            </a:r>
            <a:r>
              <a:rPr dirty="0" err="1"/>
              <a:t>streamlit</a:t>
            </a:r>
            <a:r>
              <a:rPr dirty="0"/>
              <a:t>-</a:t>
            </a:r>
            <a:r>
              <a:rPr dirty="0" err="1"/>
              <a:t>oluqiqxkmq-uw.a.run.app</a:t>
            </a:r>
            <a:endParaRPr dirty="0"/>
          </a:p>
          <a:p>
            <a:endParaRPr dirty="0"/>
          </a:p>
          <a:p>
            <a:r>
              <a:rPr dirty="0"/>
              <a:t>Then I would choose </a:t>
            </a:r>
            <a:r>
              <a:rPr dirty="0" err="1"/>
              <a:t>XGBoost</a:t>
            </a:r>
            <a:r>
              <a:rPr dirty="0"/>
              <a:t>, set the horizon to 8 weeks, and click "Get forecast." I would point out that the chart is not just computed inside </a:t>
            </a:r>
            <a:r>
              <a:rPr dirty="0" err="1"/>
              <a:t>Streamlit</a:t>
            </a:r>
            <a:r>
              <a:rPr dirty="0"/>
              <a:t>. </a:t>
            </a:r>
            <a:r>
              <a:rPr dirty="0" err="1"/>
              <a:t>Streamlit</a:t>
            </a:r>
            <a:r>
              <a:rPr dirty="0"/>
              <a:t> is calling the deployed API service.</a:t>
            </a:r>
          </a:p>
          <a:p>
            <a:endParaRPr dirty="0"/>
          </a:p>
          <a:p>
            <a:r>
              <a:rPr dirty="0"/>
              <a:t>To show the API directly, I can open the health endpoint:</a:t>
            </a:r>
          </a:p>
          <a:p>
            <a:endParaRPr dirty="0"/>
          </a:p>
          <a:p>
            <a:r>
              <a:rPr dirty="0"/>
              <a:t>https://fuel-price-</a:t>
            </a:r>
            <a:r>
              <a:rPr dirty="0" err="1"/>
              <a:t>api</a:t>
            </a:r>
            <a:r>
              <a:rPr dirty="0"/>
              <a:t>-</a:t>
            </a:r>
            <a:r>
              <a:rPr dirty="0" err="1"/>
              <a:t>oluqiqxkmq-uw.a.run.app</a:t>
            </a:r>
            <a:r>
              <a:rPr dirty="0"/>
              <a:t>/health</a:t>
            </a:r>
          </a:p>
          <a:p>
            <a:endParaRPr dirty="0"/>
          </a:p>
          <a:p>
            <a:r>
              <a:rPr dirty="0"/>
              <a:t>That returns JSON showing the API is alive and lists the supported methods.</a:t>
            </a:r>
          </a:p>
          <a:p>
            <a:endParaRPr dirty="0"/>
          </a:p>
          <a:p>
            <a:r>
              <a:rPr dirty="0"/>
              <a:t>Then I can show a prediction request with this command:</a:t>
            </a:r>
          </a:p>
          <a:p>
            <a:endParaRPr dirty="0"/>
          </a:p>
          <a:p>
            <a:r>
              <a:rPr dirty="0"/>
              <a:t>curl -X POST https://fuel-price-</a:t>
            </a:r>
            <a:r>
              <a:rPr dirty="0" err="1"/>
              <a:t>api</a:t>
            </a:r>
            <a:r>
              <a:rPr dirty="0"/>
              <a:t>-</a:t>
            </a:r>
            <a:r>
              <a:rPr dirty="0" err="1"/>
              <a:t>oluqiqxkmq-uw.a.run.app</a:t>
            </a:r>
            <a:r>
              <a:rPr dirty="0"/>
              <a:t>/predict \</a:t>
            </a:r>
          </a:p>
          <a:p>
            <a:r>
              <a:rPr dirty="0"/>
              <a:t>  -H "Content-Type: application/</a:t>
            </a:r>
            <a:r>
              <a:rPr dirty="0" err="1"/>
              <a:t>json</a:t>
            </a:r>
            <a:r>
              <a:rPr dirty="0"/>
              <a:t>" \</a:t>
            </a:r>
          </a:p>
          <a:p>
            <a:r>
              <a:rPr dirty="0"/>
              <a:t>  -d '{"horizon":8,"method":"xgboost"}'</a:t>
            </a:r>
          </a:p>
          <a:p>
            <a:endParaRPr dirty="0"/>
          </a:p>
          <a:p>
            <a:r>
              <a:rPr dirty="0"/>
              <a:t>The response includes the method, horizon, last historical period, validation metrics, and a list of forecasted dates and prices. This demonstrates the core app/API interaction required by the final project.</a:t>
            </a:r>
          </a:p>
          <a:p>
            <a:endParaRPr dirty="0"/>
          </a:p>
          <a:p>
            <a:r>
              <a:rPr dirty="0"/>
              <a:t>If the live demo is slow, I would still explain the flow clearly: the dashboard is the front end, Flask is the model service, and /predict is the contract between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biggest lesson from this project was that turning a model into a reliable deployed system takes more work than training the model itself.</a:t>
            </a:r>
          </a:p>
          <a:p>
            <a:endParaRPr/>
          </a:p>
          <a:p>
            <a:r>
              <a:t>Some challenges were deployment-related. Cloud Run required the API and UI to be configured as separate services, and Streamlit needed the correct MODEL_API_URL environment variable so it could call the public API endpoint. SARIMA also required extra care because the original artifact was too large and the API needed enough memory.</a:t>
            </a:r>
          </a:p>
          <a:p>
            <a:endParaRPr/>
          </a:p>
          <a:p>
            <a:r>
              <a:t>AI assistance was useful for scaffolding and troubleshooting. It helped with the Flask and Streamlit structure, Docker commands, deployment checks, and debugging. But I still had to manually verify the code, simplify generated pieces, check logs, run tests, and make sure the final project matched the course requirements.</a:t>
            </a:r>
          </a:p>
          <a:p>
            <a:endParaRPr/>
          </a:p>
          <a:p>
            <a:r>
              <a:t>For future work, I would add a scheduled EIA refresh so the deployed model can update automatically, add confidence intervals, include a feature importance or SHAP view, and continue reducing dependencies so Cloud Run rebuilds are faster.</a:t>
            </a:r>
          </a:p>
          <a:p>
            <a:endParaRPr/>
          </a:p>
          <a:p>
            <a:r>
              <a:t>Overall, this project gave me practice across the full data science workflow: data collection, preprocessing, model comparison, API design, frontend interaction, deployment, and presentation of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hyperlink" Target="https://fuel-price-api-oluqiqxkmq-uw.a.run.app/" TargetMode="External"/><Relationship Id="rId4" Type="http://schemas.openxmlformats.org/officeDocument/2006/relationships/hyperlink" Target="https://fuel-price-streamlit-oluqiqxkmq-uw.a.run.ap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715000" y="0"/>
            <a:ext cx="3429000" cy="5143500"/>
          </a:xfrm>
          <a:prstGeom prst="rect">
            <a:avLst/>
          </a:prstGeom>
        </p:spPr>
      </p:pic>
      <p:sp>
        <p:nvSpPr>
          <p:cNvPr id="3" name="Shape 0">
            <a:extLst>
              <a:ext uri="{FF2B5EF4-FFF2-40B4-BE49-F238E27FC236}">
                <a16:creationId xmlns:a16="http://schemas.microsoft.com/office/drawing/2014/main" id="{3D98E6BB-317B-4003-BB58-434B8E92D5A7}"/>
              </a:ext>
            </a:extLst>
          </p:cNvPr>
          <p:cNvSpPr>
            <a:spLocks noGrp="1"/>
          </p:cNvSpPr>
          <p:nvPr/>
        </p:nvSpPr>
        <p:spPr>
          <a:xfrm>
            <a:off x="523577" y="494779"/>
            <a:ext cx="1845469" cy="226740"/>
          </a:xfrm>
          <a:prstGeom prst="roundRect">
            <a:avLst>
              <a:gd name="adj" fmla="val 67304"/>
            </a:avLst>
          </a:prstGeom>
          <a:solidFill>
            <a:srgbClr val="483304"/>
          </a:solidFill>
        </p:spPr>
        <p:txBody>
          <a:bodyPr/>
          <a:lstStyle/>
          <a:p>
            <a:endParaRPr/>
          </a:p>
        </p:txBody>
      </p:sp>
      <p:sp>
        <p:nvSpPr>
          <p:cNvPr id="4" name="Text 1">
            <a:extLst>
              <a:ext uri="{FF2B5EF4-FFF2-40B4-BE49-F238E27FC236}">
                <a16:creationId xmlns:a16="http://schemas.microsoft.com/office/drawing/2014/main" id="{0AB1D993-7719-4E8C-A33E-58C3BE016DA9}"/>
              </a:ext>
            </a:extLst>
          </p:cNvPr>
          <p:cNvSpPr>
            <a:spLocks noGrp="1"/>
          </p:cNvSpPr>
          <p:nvPr/>
        </p:nvSpPr>
        <p:spPr>
          <a:xfrm>
            <a:off x="599852" y="532879"/>
            <a:ext cx="2150120" cy="150540"/>
          </a:xfrm>
          <a:prstGeom prst="rect">
            <a:avLst/>
          </a:prstGeom>
          <a:noFill/>
        </p:spPr>
        <p:txBody>
          <a:bodyPr wrap="none" lIns="0" tIns="0" rIns="0" bIns="0" anchor="t"/>
          <a:lstStyle/>
          <a:p>
            <a:pPr marL="0" indent="0" algn="l">
              <a:lnSpc>
                <a:spcPct val="123000"/>
              </a:lnSpc>
              <a:buNone/>
            </a:pPr>
            <a:r>
              <a:rPr sz="800">
                <a:solidFill>
                  <a:srgbClr val="FFFFFF"/>
                </a:solidFill>
                <a:latin typeface="PT Sans"/>
                <a:ea typeface="PT Sans"/>
                <a:cs typeface="PT Sans"/>
              </a:rPr>
              <a:t>STAT 418 · FINAL PROJECT · JUNE 2026</a:t>
            </a:r>
          </a:p>
        </p:txBody>
      </p:sp>
      <p:sp>
        <p:nvSpPr>
          <p:cNvPr id="5" name="Text 2">
            <a:extLst>
              <a:ext uri="{FF2B5EF4-FFF2-40B4-BE49-F238E27FC236}">
                <a16:creationId xmlns:a16="http://schemas.microsoft.com/office/drawing/2014/main" id="{759339B7-73BA-4B64-BA62-08E64EBA7B0B}"/>
              </a:ext>
            </a:extLst>
          </p:cNvPr>
          <p:cNvSpPr>
            <a:spLocks noGrp="1"/>
          </p:cNvSpPr>
          <p:nvPr/>
        </p:nvSpPr>
        <p:spPr>
          <a:xfrm>
            <a:off x="523577" y="764753"/>
            <a:ext cx="5119390" cy="374005"/>
          </a:xfrm>
          <a:prstGeom prst="rect">
            <a:avLst/>
          </a:prstGeom>
          <a:noFill/>
        </p:spPr>
        <p:txBody>
          <a:bodyPr wrap="none" lIns="0" tIns="0" rIns="0" bIns="0" anchor="t"/>
          <a:lstStyle/>
          <a:p>
            <a:pPr marL="0" indent="0" algn="l">
              <a:lnSpc>
                <a:spcPct val="104000"/>
              </a:lnSpc>
              <a:buNone/>
            </a:pPr>
            <a:r>
              <a:rPr sz="2350">
                <a:solidFill>
                  <a:srgbClr val="FFFFFF"/>
                </a:solidFill>
                <a:latin typeface="Nunito SemiBold"/>
                <a:ea typeface="Nunito SemiBold"/>
                <a:cs typeface="Nunito SemiBold"/>
              </a:rPr>
              <a:t>U.S. Retail Gasoline Price Forecast</a:t>
            </a:r>
          </a:p>
        </p:txBody>
      </p:sp>
      <p:sp>
        <p:nvSpPr>
          <p:cNvPr id="6" name="Text 3">
            <a:extLst>
              <a:ext uri="{FF2B5EF4-FFF2-40B4-BE49-F238E27FC236}">
                <a16:creationId xmlns:a16="http://schemas.microsoft.com/office/drawing/2014/main" id="{F6E545FD-70BB-4EF1-B0B3-F11F2F06B2A1}"/>
              </a:ext>
            </a:extLst>
          </p:cNvPr>
          <p:cNvSpPr>
            <a:spLocks noGrp="1"/>
          </p:cNvSpPr>
          <p:nvPr/>
        </p:nvSpPr>
        <p:spPr>
          <a:xfrm>
            <a:off x="523577" y="1300832"/>
            <a:ext cx="4667845" cy="564579"/>
          </a:xfrm>
          <a:prstGeom prst="rect">
            <a:avLst/>
          </a:prstGeom>
          <a:noFill/>
        </p:spPr>
        <p:txBody>
          <a:bodyPr wrap="square" lIns="0" tIns="0" rIns="0" bIns="0" anchor="t">
            <a:normAutofit/>
          </a:bodyPr>
          <a:lstStyle/>
          <a:p>
            <a:pPr marL="0" indent="0" algn="l">
              <a:lnSpc>
                <a:spcPct val="123000"/>
              </a:lnSpc>
              <a:buNone/>
            </a:pPr>
            <a:r>
              <a:rPr sz="1000">
                <a:solidFill>
                  <a:srgbClr val="FFFFFF"/>
                </a:solidFill>
                <a:latin typeface="PT Sans"/>
                <a:ea typeface="PT Sans"/>
                <a:cs typeface="PT Sans"/>
              </a:rPr>
              <a:t>A deployed data science application that collects weekly EIA gasoline prices, trains two forecasting models, serves predictions through Flask, and presents them in an interactive Streamlit dashboard.</a:t>
            </a:r>
          </a:p>
        </p:txBody>
      </p:sp>
      <p:sp>
        <p:nvSpPr>
          <p:cNvPr id="7" name="Text 4">
            <a:extLst>
              <a:ext uri="{FF2B5EF4-FFF2-40B4-BE49-F238E27FC236}">
                <a16:creationId xmlns:a16="http://schemas.microsoft.com/office/drawing/2014/main" id="{DE223D5D-6499-4B2F-BFAD-0D40E77A6D4E}"/>
              </a:ext>
            </a:extLst>
          </p:cNvPr>
          <p:cNvSpPr>
            <a:spLocks noGrp="1"/>
          </p:cNvSpPr>
          <p:nvPr/>
        </p:nvSpPr>
        <p:spPr>
          <a:xfrm>
            <a:off x="693539" y="2050554"/>
            <a:ext cx="1926357" cy="335756"/>
          </a:xfrm>
          <a:prstGeom prst="rect">
            <a:avLst/>
          </a:prstGeom>
          <a:noFill/>
        </p:spPr>
        <p:txBody>
          <a:bodyPr wrap="none" lIns="0" tIns="0" rIns="0" bIns="0" anchor="t"/>
          <a:lstStyle/>
          <a:p>
            <a:pPr marL="0" indent="0" algn="ctr">
              <a:lnSpc>
                <a:spcPct val="83000"/>
              </a:lnSpc>
              <a:buNone/>
            </a:pPr>
            <a:r>
              <a:rPr sz="2600">
                <a:solidFill>
                  <a:srgbClr val="FFFFFF"/>
                </a:solidFill>
                <a:latin typeface="Nunito SemiBold"/>
                <a:ea typeface="Nunito SemiBold"/>
                <a:cs typeface="Nunito SemiBold"/>
              </a:rPr>
              <a:t>1,729</a:t>
            </a:r>
          </a:p>
        </p:txBody>
      </p:sp>
      <p:sp>
        <p:nvSpPr>
          <p:cNvPr id="8" name="Text 5">
            <a:extLst>
              <a:ext uri="{FF2B5EF4-FFF2-40B4-BE49-F238E27FC236}">
                <a16:creationId xmlns:a16="http://schemas.microsoft.com/office/drawing/2014/main" id="{A253CAE4-CF77-4746-965F-9C7E24192DFF}"/>
              </a:ext>
            </a:extLst>
          </p:cNvPr>
          <p:cNvSpPr>
            <a:spLocks noGrp="1"/>
          </p:cNvSpPr>
          <p:nvPr/>
        </p:nvSpPr>
        <p:spPr>
          <a:xfrm>
            <a:off x="908670" y="2530897"/>
            <a:ext cx="1496095" cy="187003"/>
          </a:xfrm>
          <a:prstGeom prst="rect">
            <a:avLst/>
          </a:prstGeom>
          <a:noFill/>
        </p:spPr>
        <p:txBody>
          <a:bodyPr wrap="none" lIns="0" tIns="0" rIns="0" bIns="0" anchor="t"/>
          <a:lstStyle/>
          <a:p>
            <a:pPr marL="0" indent="0" algn="ctr">
              <a:lnSpc>
                <a:spcPct val="104000"/>
              </a:lnSpc>
              <a:buNone/>
            </a:pPr>
            <a:r>
              <a:rPr sz="1150">
                <a:solidFill>
                  <a:srgbClr val="FFFFFF"/>
                </a:solidFill>
                <a:latin typeface="Nunito SemiBold"/>
                <a:ea typeface="Nunito SemiBold"/>
                <a:cs typeface="Nunito SemiBold"/>
              </a:rPr>
              <a:t>Weekly Observations</a:t>
            </a:r>
          </a:p>
        </p:txBody>
      </p:sp>
      <p:sp>
        <p:nvSpPr>
          <p:cNvPr id="9" name="Text 6">
            <a:extLst>
              <a:ext uri="{FF2B5EF4-FFF2-40B4-BE49-F238E27FC236}">
                <a16:creationId xmlns:a16="http://schemas.microsoft.com/office/drawing/2014/main" id="{2FFF4FD6-14FC-432A-83CF-D8527016624B}"/>
              </a:ext>
            </a:extLst>
          </p:cNvPr>
          <p:cNvSpPr>
            <a:spLocks noGrp="1"/>
          </p:cNvSpPr>
          <p:nvPr/>
        </p:nvSpPr>
        <p:spPr>
          <a:xfrm>
            <a:off x="523577" y="2782714"/>
            <a:ext cx="2266355" cy="188193"/>
          </a:xfrm>
          <a:prstGeom prst="rect">
            <a:avLst/>
          </a:prstGeom>
          <a:noFill/>
        </p:spPr>
        <p:txBody>
          <a:bodyPr wrap="none" lIns="0" tIns="0" rIns="0" bIns="0" anchor="t"/>
          <a:lstStyle/>
          <a:p>
            <a:pPr marL="0" indent="0" algn="ctr">
              <a:lnSpc>
                <a:spcPct val="123000"/>
              </a:lnSpc>
              <a:buNone/>
            </a:pPr>
            <a:r>
              <a:rPr sz="1000">
                <a:solidFill>
                  <a:srgbClr val="FFFFFF"/>
                </a:solidFill>
                <a:latin typeface="PT Sans"/>
                <a:ea typeface="PT Sans"/>
                <a:cs typeface="PT Sans"/>
              </a:rPr>
              <a:t>1993–2026 EIA data</a:t>
            </a:r>
          </a:p>
        </p:txBody>
      </p:sp>
      <p:sp>
        <p:nvSpPr>
          <p:cNvPr id="10" name="Text 7">
            <a:extLst>
              <a:ext uri="{FF2B5EF4-FFF2-40B4-BE49-F238E27FC236}">
                <a16:creationId xmlns:a16="http://schemas.microsoft.com/office/drawing/2014/main" id="{76482516-C78D-4A3B-BE84-05C1BA224316}"/>
              </a:ext>
            </a:extLst>
          </p:cNvPr>
          <p:cNvSpPr>
            <a:spLocks noGrp="1"/>
          </p:cNvSpPr>
          <p:nvPr/>
        </p:nvSpPr>
        <p:spPr>
          <a:xfrm>
            <a:off x="3094955" y="2050554"/>
            <a:ext cx="1926431" cy="419695"/>
          </a:xfrm>
          <a:prstGeom prst="rect">
            <a:avLst/>
          </a:prstGeom>
          <a:noFill/>
        </p:spPr>
        <p:txBody>
          <a:bodyPr wrap="none" lIns="0" tIns="0" rIns="0" bIns="0" anchor="t"/>
          <a:lstStyle/>
          <a:p>
            <a:pPr marL="0" indent="0" algn="ctr">
              <a:lnSpc>
                <a:spcPct val="83000"/>
              </a:lnSpc>
              <a:buNone/>
            </a:pPr>
            <a:r>
              <a:rPr sz="3300">
                <a:solidFill>
                  <a:srgbClr val="FFFFFF"/>
                </a:solidFill>
                <a:latin typeface="Nunito SemiBold"/>
                <a:ea typeface="Nunito SemiBold"/>
                <a:cs typeface="Nunito SemiBold"/>
              </a:rPr>
              <a:t>2</a:t>
            </a:r>
          </a:p>
        </p:txBody>
      </p:sp>
      <p:sp>
        <p:nvSpPr>
          <p:cNvPr id="11" name="Text 8">
            <a:extLst>
              <a:ext uri="{FF2B5EF4-FFF2-40B4-BE49-F238E27FC236}">
                <a16:creationId xmlns:a16="http://schemas.microsoft.com/office/drawing/2014/main" id="{F23C6BF8-E76D-4EF3-9886-6762A9787A2A}"/>
              </a:ext>
            </a:extLst>
          </p:cNvPr>
          <p:cNvSpPr>
            <a:spLocks noGrp="1"/>
          </p:cNvSpPr>
          <p:nvPr/>
        </p:nvSpPr>
        <p:spPr>
          <a:xfrm>
            <a:off x="3310161" y="2614836"/>
            <a:ext cx="1496095" cy="187003"/>
          </a:xfrm>
          <a:prstGeom prst="rect">
            <a:avLst/>
          </a:prstGeom>
          <a:noFill/>
        </p:spPr>
        <p:txBody>
          <a:bodyPr wrap="none" lIns="0" tIns="0" rIns="0" bIns="0" anchor="t"/>
          <a:lstStyle/>
          <a:p>
            <a:pPr marL="0" indent="0" algn="ctr">
              <a:lnSpc>
                <a:spcPct val="104000"/>
              </a:lnSpc>
              <a:buNone/>
            </a:pPr>
            <a:r>
              <a:rPr sz="1150">
                <a:solidFill>
                  <a:srgbClr val="FFFFFF"/>
                </a:solidFill>
                <a:latin typeface="Nunito SemiBold"/>
                <a:ea typeface="Nunito SemiBold"/>
                <a:cs typeface="Nunito SemiBold"/>
              </a:rPr>
              <a:t>Models Served</a:t>
            </a:r>
          </a:p>
        </p:txBody>
      </p:sp>
      <p:sp>
        <p:nvSpPr>
          <p:cNvPr id="12" name="Text 9">
            <a:extLst>
              <a:ext uri="{FF2B5EF4-FFF2-40B4-BE49-F238E27FC236}">
                <a16:creationId xmlns:a16="http://schemas.microsoft.com/office/drawing/2014/main" id="{4428FF3B-F5EC-4234-881B-AD78BD53FBB6}"/>
              </a:ext>
            </a:extLst>
          </p:cNvPr>
          <p:cNvSpPr>
            <a:spLocks noGrp="1"/>
          </p:cNvSpPr>
          <p:nvPr/>
        </p:nvSpPr>
        <p:spPr>
          <a:xfrm>
            <a:off x="2924994" y="2866653"/>
            <a:ext cx="2266429" cy="188193"/>
          </a:xfrm>
          <a:prstGeom prst="rect">
            <a:avLst/>
          </a:prstGeom>
          <a:noFill/>
        </p:spPr>
        <p:txBody>
          <a:bodyPr wrap="none" lIns="0" tIns="0" rIns="0" bIns="0" anchor="t"/>
          <a:lstStyle/>
          <a:p>
            <a:pPr marL="0" indent="0" algn="ctr">
              <a:lnSpc>
                <a:spcPct val="123000"/>
              </a:lnSpc>
              <a:buNone/>
            </a:pPr>
            <a:r>
              <a:rPr sz="1000">
                <a:solidFill>
                  <a:srgbClr val="FFFFFF"/>
                </a:solidFill>
                <a:latin typeface="PT Sans"/>
                <a:ea typeface="PT Sans"/>
                <a:cs typeface="PT Sans"/>
              </a:rPr>
              <a:t>XGBoost &amp; SARIMA</a:t>
            </a:r>
          </a:p>
        </p:txBody>
      </p:sp>
      <p:sp>
        <p:nvSpPr>
          <p:cNvPr id="13" name="Text 10">
            <a:extLst>
              <a:ext uri="{FF2B5EF4-FFF2-40B4-BE49-F238E27FC236}">
                <a16:creationId xmlns:a16="http://schemas.microsoft.com/office/drawing/2014/main" id="{5A94D530-05DA-46F1-8600-6C929153FD6D}"/>
              </a:ext>
            </a:extLst>
          </p:cNvPr>
          <p:cNvSpPr>
            <a:spLocks noGrp="1"/>
          </p:cNvSpPr>
          <p:nvPr/>
        </p:nvSpPr>
        <p:spPr>
          <a:xfrm>
            <a:off x="1894210" y="3334569"/>
            <a:ext cx="1926431" cy="419695"/>
          </a:xfrm>
          <a:prstGeom prst="rect">
            <a:avLst/>
          </a:prstGeom>
          <a:noFill/>
        </p:spPr>
        <p:txBody>
          <a:bodyPr wrap="none" lIns="0" tIns="0" rIns="0" bIns="0" anchor="t"/>
          <a:lstStyle/>
          <a:p>
            <a:pPr marL="0" indent="0" algn="ctr">
              <a:lnSpc>
                <a:spcPct val="83000"/>
              </a:lnSpc>
              <a:buNone/>
            </a:pPr>
            <a:r>
              <a:rPr sz="3300">
                <a:solidFill>
                  <a:srgbClr val="FFFFFF"/>
                </a:solidFill>
                <a:latin typeface="Nunito SemiBold"/>
                <a:ea typeface="Nunito SemiBold"/>
                <a:cs typeface="Nunito SemiBold"/>
              </a:rPr>
              <a:t>2</a:t>
            </a:r>
          </a:p>
        </p:txBody>
      </p:sp>
      <p:sp>
        <p:nvSpPr>
          <p:cNvPr id="14" name="Text 11">
            <a:extLst>
              <a:ext uri="{FF2B5EF4-FFF2-40B4-BE49-F238E27FC236}">
                <a16:creationId xmlns:a16="http://schemas.microsoft.com/office/drawing/2014/main" id="{0754AC88-9DFE-40BC-B70C-34A282B15B7F}"/>
              </a:ext>
            </a:extLst>
          </p:cNvPr>
          <p:cNvSpPr>
            <a:spLocks noGrp="1"/>
          </p:cNvSpPr>
          <p:nvPr/>
        </p:nvSpPr>
        <p:spPr>
          <a:xfrm>
            <a:off x="2109415" y="3898850"/>
            <a:ext cx="1496095" cy="187003"/>
          </a:xfrm>
          <a:prstGeom prst="rect">
            <a:avLst/>
          </a:prstGeom>
          <a:noFill/>
        </p:spPr>
        <p:txBody>
          <a:bodyPr wrap="none" lIns="0" tIns="0" rIns="0" bIns="0" anchor="t"/>
          <a:lstStyle/>
          <a:p>
            <a:pPr marL="0" indent="0" algn="ctr">
              <a:lnSpc>
                <a:spcPct val="104000"/>
              </a:lnSpc>
              <a:buNone/>
            </a:pPr>
            <a:r>
              <a:rPr sz="1150">
                <a:solidFill>
                  <a:srgbClr val="FFFFFF"/>
                </a:solidFill>
                <a:latin typeface="Nunito SemiBold"/>
                <a:ea typeface="Nunito SemiBold"/>
                <a:cs typeface="Nunito SemiBold"/>
              </a:rPr>
              <a:t>Live Services</a:t>
            </a:r>
          </a:p>
        </p:txBody>
      </p:sp>
      <p:sp>
        <p:nvSpPr>
          <p:cNvPr id="15" name="Text 12">
            <a:extLst>
              <a:ext uri="{FF2B5EF4-FFF2-40B4-BE49-F238E27FC236}">
                <a16:creationId xmlns:a16="http://schemas.microsoft.com/office/drawing/2014/main" id="{FA10B519-0372-4509-BF47-CC756D9B48D6}"/>
              </a:ext>
            </a:extLst>
          </p:cNvPr>
          <p:cNvSpPr>
            <a:spLocks noGrp="1"/>
          </p:cNvSpPr>
          <p:nvPr/>
        </p:nvSpPr>
        <p:spPr>
          <a:xfrm>
            <a:off x="1724248" y="4150668"/>
            <a:ext cx="2266429" cy="188193"/>
          </a:xfrm>
          <a:prstGeom prst="rect">
            <a:avLst/>
          </a:prstGeom>
          <a:noFill/>
        </p:spPr>
        <p:txBody>
          <a:bodyPr wrap="none" lIns="0" tIns="0" rIns="0" bIns="0" anchor="t"/>
          <a:lstStyle/>
          <a:p>
            <a:pPr marL="0" indent="0" algn="ctr">
              <a:lnSpc>
                <a:spcPct val="123000"/>
              </a:lnSpc>
              <a:buNone/>
            </a:pPr>
            <a:r>
              <a:rPr sz="1000">
                <a:solidFill>
                  <a:srgbClr val="FFFFFF"/>
                </a:solidFill>
                <a:latin typeface="PT Sans"/>
                <a:ea typeface="PT Sans"/>
                <a:cs typeface="PT Sans"/>
              </a:rPr>
              <a:t>Flask API + Streamlit UI</a:t>
            </a:r>
          </a:p>
        </p:txBody>
      </p:sp>
      <p:sp>
        <p:nvSpPr>
          <p:cNvPr id="16" name="Text 13">
            <a:extLst>
              <a:ext uri="{FF2B5EF4-FFF2-40B4-BE49-F238E27FC236}">
                <a16:creationId xmlns:a16="http://schemas.microsoft.com/office/drawing/2014/main" id="{BA4603DD-F8D1-40F8-97CC-3804223ACADD}"/>
              </a:ext>
            </a:extLst>
          </p:cNvPr>
          <p:cNvSpPr>
            <a:spLocks noGrp="1"/>
          </p:cNvSpPr>
          <p:nvPr/>
        </p:nvSpPr>
        <p:spPr>
          <a:xfrm>
            <a:off x="523589" y="4400550"/>
            <a:ext cx="5125021" cy="609600"/>
          </a:xfrm>
          <a:prstGeom prst="rect">
            <a:avLst/>
          </a:prstGeom>
          <a:noFill/>
        </p:spPr>
        <p:txBody>
          <a:bodyPr wrap="none" lIns="0" tIns="0" rIns="0" bIns="0" anchor="t"/>
          <a:lstStyle/>
          <a:p>
            <a:pPr marL="0" indent="0" algn="l">
              <a:lnSpc>
                <a:spcPct val="123000"/>
              </a:lnSpc>
              <a:buNone/>
            </a:pPr>
            <a:r>
              <a:rPr sz="863" b="1">
                <a:solidFill>
                  <a:srgbClr val="D0D5DD"/>
                </a:solidFill>
                <a:latin typeface="PT Sans"/>
                <a:ea typeface="PT Sans"/>
                <a:cs typeface="PT Sans"/>
              </a:rPr>
              <a:t>Mike Wu</a:t>
            </a:r>
          </a:p>
          <a:p>
            <a:pPr marL="0" indent="0" algn="l">
              <a:lnSpc>
                <a:spcPct val="123000"/>
              </a:lnSpc>
              <a:buNone/>
            </a:pPr>
            <a:r>
              <a:rPr sz="863" b="1">
                <a:solidFill>
                  <a:srgbClr val="D0D5DD"/>
                </a:solidFill>
                <a:latin typeface="PT Sans"/>
                <a:ea typeface="PT Sans"/>
                <a:cs typeface="PT Sans"/>
                <a:hlinkClick r:id="rId4"/>
              </a:rPr>
              <a:t>Streamlit app: https://fuel-price-streamlit-oluqiqxkmq-uw.a.run.app</a:t>
            </a:r>
          </a:p>
          <a:p>
            <a:pPr marL="0" indent="0" algn="l">
              <a:lnSpc>
                <a:spcPct val="123000"/>
              </a:lnSpc>
              <a:buNone/>
            </a:pPr>
            <a:r>
              <a:rPr sz="863" b="1">
                <a:solidFill>
                  <a:srgbClr val="D0D5DD"/>
                </a:solidFill>
                <a:latin typeface="PT Sans"/>
                <a:ea typeface="PT Sans"/>
                <a:cs typeface="PT Sans"/>
                <a:hlinkClick r:id="rId5"/>
              </a:rPr>
              <a:t>Flask API: https://fuel-price-api-oluqiqxkmq-uw.a.run.app</a:t>
            </a:r>
          </a:p>
        </p:txBody>
      </p:sp>
    </p:spTree>
    <p:extLst>
      <p:ext uri="{BB962C8B-B14F-4D97-AF65-F5344CB8AC3E}">
        <p14:creationId xmlns:p14="http://schemas.microsoft.com/office/powerpoint/2010/main" val="704527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715000" y="0"/>
            <a:ext cx="3429000" cy="5143500"/>
          </a:xfrm>
          <a:prstGeom prst="rect">
            <a:avLst/>
          </a:prstGeom>
        </p:spPr>
      </p:pic>
      <p:sp>
        <p:nvSpPr>
          <p:cNvPr id="3" name="Shape 0">
            <a:extLst>
              <a:ext uri="{FF2B5EF4-FFF2-40B4-BE49-F238E27FC236}">
                <a16:creationId xmlns:a16="http://schemas.microsoft.com/office/drawing/2014/main" id="{317F234B-31A5-42B7-849A-2859B67512B0}"/>
              </a:ext>
            </a:extLst>
          </p:cNvPr>
          <p:cNvSpPr>
            <a:spLocks noGrp="1"/>
          </p:cNvSpPr>
          <p:nvPr/>
        </p:nvSpPr>
        <p:spPr>
          <a:xfrm>
            <a:off x="523577" y="494109"/>
            <a:ext cx="606549" cy="195783"/>
          </a:xfrm>
          <a:prstGeom prst="roundRect">
            <a:avLst>
              <a:gd name="adj" fmla="val 64191"/>
            </a:avLst>
          </a:prstGeom>
          <a:noFill/>
          <a:ln w="9525">
            <a:solidFill>
              <a:srgbClr val="F2B42D"/>
            </a:solidFill>
            <a:prstDash val="solid"/>
          </a:ln>
        </p:spPr>
        <p:txBody>
          <a:bodyPr/>
          <a:lstStyle/>
          <a:p>
            <a:endParaRPr/>
          </a:p>
        </p:txBody>
      </p:sp>
      <p:sp>
        <p:nvSpPr>
          <p:cNvPr id="4" name="Text 1">
            <a:extLst>
              <a:ext uri="{FF2B5EF4-FFF2-40B4-BE49-F238E27FC236}">
                <a16:creationId xmlns:a16="http://schemas.microsoft.com/office/drawing/2014/main" id="{DF4E9C65-E78A-4131-BE07-A823DF3D9F85}"/>
              </a:ext>
            </a:extLst>
          </p:cNvPr>
          <p:cNvSpPr>
            <a:spLocks noGrp="1"/>
          </p:cNvSpPr>
          <p:nvPr/>
        </p:nvSpPr>
        <p:spPr>
          <a:xfrm>
            <a:off x="595908" y="535037"/>
            <a:ext cx="919088" cy="113928"/>
          </a:xfrm>
          <a:prstGeom prst="rect">
            <a:avLst/>
          </a:prstGeom>
          <a:noFill/>
        </p:spPr>
        <p:txBody>
          <a:bodyPr wrap="none" lIns="0" tIns="0" rIns="0" bIns="0" anchor="t"/>
          <a:lstStyle/>
          <a:p>
            <a:pPr marL="0" indent="0" algn="l">
              <a:lnSpc>
                <a:spcPct val="113000"/>
              </a:lnSpc>
              <a:buNone/>
            </a:pPr>
            <a:r>
              <a:rPr sz="650">
                <a:solidFill>
                  <a:srgbClr val="F2B42D"/>
                </a:solidFill>
                <a:latin typeface="PT Sans"/>
                <a:ea typeface="PT Sans"/>
                <a:cs typeface="PT Sans"/>
              </a:rPr>
              <a:t>MOTIVATION</a:t>
            </a:r>
          </a:p>
        </p:txBody>
      </p:sp>
      <p:sp>
        <p:nvSpPr>
          <p:cNvPr id="5" name="Text 2">
            <a:extLst>
              <a:ext uri="{FF2B5EF4-FFF2-40B4-BE49-F238E27FC236}">
                <a16:creationId xmlns:a16="http://schemas.microsoft.com/office/drawing/2014/main" id="{C2010CBF-8BCD-4695-88DE-B95DCE9F575E}"/>
              </a:ext>
            </a:extLst>
          </p:cNvPr>
          <p:cNvSpPr>
            <a:spLocks noGrp="1"/>
          </p:cNvSpPr>
          <p:nvPr/>
        </p:nvSpPr>
        <p:spPr>
          <a:xfrm>
            <a:off x="523577" y="719212"/>
            <a:ext cx="4667845" cy="615851"/>
          </a:xfrm>
          <a:prstGeom prst="rect">
            <a:avLst/>
          </a:prstGeom>
          <a:noFill/>
        </p:spPr>
        <p:txBody>
          <a:bodyPr wrap="square" lIns="0" tIns="0" rIns="0" bIns="0" anchor="t">
            <a:normAutofit/>
          </a:bodyPr>
          <a:lstStyle/>
          <a:p>
            <a:pPr marL="0" indent="0" algn="l">
              <a:lnSpc>
                <a:spcPct val="104000"/>
              </a:lnSpc>
              <a:buNone/>
            </a:pPr>
            <a:r>
              <a:rPr sz="1900">
                <a:solidFill>
                  <a:srgbClr val="FFFFFF"/>
                </a:solidFill>
                <a:latin typeface="Nunito SemiBold"/>
                <a:ea typeface="Nunito SemiBold"/>
                <a:cs typeface="Nunito SemiBold"/>
              </a:rPr>
              <a:t>Fuel Prices Are Volatile Enough to Make Short-Term Forecasting Useful</a:t>
            </a:r>
          </a:p>
        </p:txBody>
      </p:sp>
      <p:sp>
        <p:nvSpPr>
          <p:cNvPr id="6" name="Text 3">
            <a:extLst>
              <a:ext uri="{FF2B5EF4-FFF2-40B4-BE49-F238E27FC236}">
                <a16:creationId xmlns:a16="http://schemas.microsoft.com/office/drawing/2014/main" id="{0611887B-3EFB-4DC5-8ECA-28F3A7B161B4}"/>
              </a:ext>
            </a:extLst>
          </p:cNvPr>
          <p:cNvSpPr>
            <a:spLocks noGrp="1"/>
          </p:cNvSpPr>
          <p:nvPr/>
        </p:nvSpPr>
        <p:spPr>
          <a:xfrm>
            <a:off x="866775" y="1497285"/>
            <a:ext cx="1601614" cy="230386"/>
          </a:xfrm>
          <a:prstGeom prst="rect">
            <a:avLst/>
          </a:prstGeom>
          <a:noFill/>
        </p:spPr>
        <p:txBody>
          <a:bodyPr wrap="none" lIns="0" tIns="0" rIns="0" bIns="0" anchor="t"/>
          <a:lstStyle/>
          <a:p>
            <a:pPr marL="0" indent="0" algn="ctr">
              <a:lnSpc>
                <a:spcPct val="83000"/>
              </a:lnSpc>
              <a:buNone/>
            </a:pPr>
            <a:r>
              <a:rPr sz="1800">
                <a:solidFill>
                  <a:srgbClr val="FFFFFF"/>
                </a:solidFill>
                <a:latin typeface="Nunito SemiBold"/>
                <a:ea typeface="Nunito SemiBold"/>
                <a:cs typeface="Nunito SemiBold"/>
              </a:rPr>
              <a:t>$0.949</a:t>
            </a:r>
          </a:p>
        </p:txBody>
      </p:sp>
      <p:sp>
        <p:nvSpPr>
          <p:cNvPr id="7" name="Text 4">
            <a:extLst>
              <a:ext uri="{FF2B5EF4-FFF2-40B4-BE49-F238E27FC236}">
                <a16:creationId xmlns:a16="http://schemas.microsoft.com/office/drawing/2014/main" id="{BAE62A8D-C4F8-4E31-833E-C86CABD7666A}"/>
              </a:ext>
            </a:extLst>
          </p:cNvPr>
          <p:cNvSpPr>
            <a:spLocks noGrp="1"/>
          </p:cNvSpPr>
          <p:nvPr/>
        </p:nvSpPr>
        <p:spPr>
          <a:xfrm>
            <a:off x="1051545" y="1834902"/>
            <a:ext cx="1232074" cy="154037"/>
          </a:xfrm>
          <a:prstGeom prst="rect">
            <a:avLst/>
          </a:prstGeom>
          <a:noFill/>
        </p:spPr>
        <p:txBody>
          <a:bodyPr wrap="none" lIns="0" tIns="0" rIns="0" bIns="0" anchor="t"/>
          <a:lstStyle/>
          <a:p>
            <a:pPr marL="0" indent="0" algn="ctr">
              <a:lnSpc>
                <a:spcPct val="104000"/>
              </a:lnSpc>
              <a:buNone/>
            </a:pPr>
            <a:r>
              <a:rPr sz="950">
                <a:solidFill>
                  <a:srgbClr val="FFFFFF"/>
                </a:solidFill>
                <a:latin typeface="Nunito SemiBold"/>
                <a:ea typeface="Nunito SemiBold"/>
                <a:cs typeface="Nunito SemiBold"/>
              </a:rPr>
              <a:t>Lowest Historical</a:t>
            </a:r>
          </a:p>
        </p:txBody>
      </p:sp>
      <p:sp>
        <p:nvSpPr>
          <p:cNvPr id="8" name="Text 5">
            <a:extLst>
              <a:ext uri="{FF2B5EF4-FFF2-40B4-BE49-F238E27FC236}">
                <a16:creationId xmlns:a16="http://schemas.microsoft.com/office/drawing/2014/main" id="{AA5124F4-AD05-41B8-978C-E25CDC1BE078}"/>
              </a:ext>
            </a:extLst>
          </p:cNvPr>
          <p:cNvSpPr>
            <a:spLocks noGrp="1"/>
          </p:cNvSpPr>
          <p:nvPr/>
        </p:nvSpPr>
        <p:spPr>
          <a:xfrm>
            <a:off x="523577" y="2032918"/>
            <a:ext cx="2288084" cy="142354"/>
          </a:xfrm>
          <a:prstGeom prst="rect">
            <a:avLst/>
          </a:prstGeom>
          <a:noFill/>
        </p:spPr>
        <p:txBody>
          <a:bodyPr wrap="none" lIns="0" tIns="0" rIns="0" bIns="0" anchor="t"/>
          <a:lstStyle/>
          <a:p>
            <a:pPr marL="0" indent="0" algn="ctr">
              <a:lnSpc>
                <a:spcPct val="113000"/>
              </a:lnSpc>
              <a:buNone/>
            </a:pPr>
            <a:r>
              <a:rPr sz="800">
                <a:solidFill>
                  <a:srgbClr val="FFFFFF"/>
                </a:solidFill>
                <a:latin typeface="PT Sans"/>
                <a:ea typeface="PT Sans"/>
                <a:cs typeface="PT Sans"/>
              </a:rPr>
              <a:t>per gallon</a:t>
            </a:r>
          </a:p>
        </p:txBody>
      </p:sp>
      <p:sp>
        <p:nvSpPr>
          <p:cNvPr id="9" name="Text 6">
            <a:extLst>
              <a:ext uri="{FF2B5EF4-FFF2-40B4-BE49-F238E27FC236}">
                <a16:creationId xmlns:a16="http://schemas.microsoft.com/office/drawing/2014/main" id="{55E15EEA-3A77-48D6-9EF6-1755E5382763}"/>
              </a:ext>
            </a:extLst>
          </p:cNvPr>
          <p:cNvSpPr>
            <a:spLocks noGrp="1"/>
          </p:cNvSpPr>
          <p:nvPr/>
        </p:nvSpPr>
        <p:spPr>
          <a:xfrm>
            <a:off x="3246462" y="1497285"/>
            <a:ext cx="1601688" cy="230386"/>
          </a:xfrm>
          <a:prstGeom prst="rect">
            <a:avLst/>
          </a:prstGeom>
          <a:noFill/>
        </p:spPr>
        <p:txBody>
          <a:bodyPr wrap="none" lIns="0" tIns="0" rIns="0" bIns="0" anchor="t"/>
          <a:lstStyle/>
          <a:p>
            <a:pPr marL="0" indent="0" algn="ctr">
              <a:lnSpc>
                <a:spcPct val="83000"/>
              </a:lnSpc>
              <a:buNone/>
            </a:pPr>
            <a:r>
              <a:rPr sz="1800">
                <a:solidFill>
                  <a:srgbClr val="FFFFFF"/>
                </a:solidFill>
                <a:latin typeface="Nunito SemiBold"/>
                <a:ea typeface="Nunito SemiBold"/>
                <a:cs typeface="Nunito SemiBold"/>
              </a:rPr>
              <a:t>$5.107</a:t>
            </a:r>
          </a:p>
        </p:txBody>
      </p:sp>
      <p:sp>
        <p:nvSpPr>
          <p:cNvPr id="10" name="Text 7">
            <a:extLst>
              <a:ext uri="{FF2B5EF4-FFF2-40B4-BE49-F238E27FC236}">
                <a16:creationId xmlns:a16="http://schemas.microsoft.com/office/drawing/2014/main" id="{CE3A4505-BE28-416A-8373-B97A2EB8AF0B}"/>
              </a:ext>
            </a:extLst>
          </p:cNvPr>
          <p:cNvSpPr>
            <a:spLocks noGrp="1"/>
          </p:cNvSpPr>
          <p:nvPr/>
        </p:nvSpPr>
        <p:spPr>
          <a:xfrm>
            <a:off x="3431307" y="1834902"/>
            <a:ext cx="1232074" cy="154037"/>
          </a:xfrm>
          <a:prstGeom prst="rect">
            <a:avLst/>
          </a:prstGeom>
          <a:noFill/>
        </p:spPr>
        <p:txBody>
          <a:bodyPr wrap="none" lIns="0" tIns="0" rIns="0" bIns="0" anchor="t"/>
          <a:lstStyle/>
          <a:p>
            <a:pPr marL="0" indent="0" algn="ctr">
              <a:lnSpc>
                <a:spcPct val="104000"/>
              </a:lnSpc>
              <a:buNone/>
            </a:pPr>
            <a:r>
              <a:rPr sz="950">
                <a:solidFill>
                  <a:srgbClr val="FFFFFF"/>
                </a:solidFill>
                <a:latin typeface="Nunito SemiBold"/>
                <a:ea typeface="Nunito SemiBold"/>
                <a:cs typeface="Nunito SemiBold"/>
              </a:rPr>
              <a:t>Highest Historical</a:t>
            </a:r>
          </a:p>
        </p:txBody>
      </p:sp>
      <p:sp>
        <p:nvSpPr>
          <p:cNvPr id="11" name="Text 8">
            <a:extLst>
              <a:ext uri="{FF2B5EF4-FFF2-40B4-BE49-F238E27FC236}">
                <a16:creationId xmlns:a16="http://schemas.microsoft.com/office/drawing/2014/main" id="{3986C79B-8A8D-488C-AC62-577C28AD29B6}"/>
              </a:ext>
            </a:extLst>
          </p:cNvPr>
          <p:cNvSpPr>
            <a:spLocks noGrp="1"/>
          </p:cNvSpPr>
          <p:nvPr/>
        </p:nvSpPr>
        <p:spPr>
          <a:xfrm>
            <a:off x="2903265" y="2032918"/>
            <a:ext cx="2288158" cy="142354"/>
          </a:xfrm>
          <a:prstGeom prst="rect">
            <a:avLst/>
          </a:prstGeom>
          <a:noFill/>
        </p:spPr>
        <p:txBody>
          <a:bodyPr wrap="none" lIns="0" tIns="0" rIns="0" bIns="0" anchor="t"/>
          <a:lstStyle/>
          <a:p>
            <a:pPr marL="0" indent="0" algn="ctr">
              <a:lnSpc>
                <a:spcPct val="113000"/>
              </a:lnSpc>
              <a:buNone/>
            </a:pPr>
            <a:r>
              <a:rPr sz="800">
                <a:solidFill>
                  <a:srgbClr val="FFFFFF"/>
                </a:solidFill>
                <a:latin typeface="PT Sans"/>
                <a:ea typeface="PT Sans"/>
                <a:cs typeface="PT Sans"/>
              </a:rPr>
              <a:t>per gallon</a:t>
            </a:r>
          </a:p>
        </p:txBody>
      </p:sp>
      <p:sp>
        <p:nvSpPr>
          <p:cNvPr id="12" name="Text 9">
            <a:extLst>
              <a:ext uri="{FF2B5EF4-FFF2-40B4-BE49-F238E27FC236}">
                <a16:creationId xmlns:a16="http://schemas.microsoft.com/office/drawing/2014/main" id="{208486E2-BFE6-4334-8205-543BDE789588}"/>
              </a:ext>
            </a:extLst>
          </p:cNvPr>
          <p:cNvSpPr>
            <a:spLocks noGrp="1"/>
          </p:cNvSpPr>
          <p:nvPr/>
        </p:nvSpPr>
        <p:spPr>
          <a:xfrm>
            <a:off x="2056581" y="2374181"/>
            <a:ext cx="1601688" cy="230386"/>
          </a:xfrm>
          <a:prstGeom prst="rect">
            <a:avLst/>
          </a:prstGeom>
          <a:noFill/>
        </p:spPr>
        <p:txBody>
          <a:bodyPr wrap="none" lIns="0" tIns="0" rIns="0" bIns="0" anchor="t"/>
          <a:lstStyle/>
          <a:p>
            <a:pPr marL="0" indent="0" algn="ctr">
              <a:lnSpc>
                <a:spcPct val="83000"/>
              </a:lnSpc>
              <a:buNone/>
            </a:pPr>
            <a:r>
              <a:rPr sz="1800">
                <a:solidFill>
                  <a:srgbClr val="FFFFFF"/>
                </a:solidFill>
                <a:latin typeface="Nunito SemiBold"/>
                <a:ea typeface="Nunito SemiBold"/>
                <a:cs typeface="Nunito SemiBold"/>
              </a:rPr>
              <a:t>$4.621</a:t>
            </a:r>
          </a:p>
        </p:txBody>
      </p:sp>
      <p:sp>
        <p:nvSpPr>
          <p:cNvPr id="13" name="Text 10">
            <a:extLst>
              <a:ext uri="{FF2B5EF4-FFF2-40B4-BE49-F238E27FC236}">
                <a16:creationId xmlns:a16="http://schemas.microsoft.com/office/drawing/2014/main" id="{F0813D09-6E60-4667-A582-E59FD1A8A444}"/>
              </a:ext>
            </a:extLst>
          </p:cNvPr>
          <p:cNvSpPr>
            <a:spLocks noGrp="1"/>
          </p:cNvSpPr>
          <p:nvPr/>
        </p:nvSpPr>
        <p:spPr>
          <a:xfrm>
            <a:off x="2241426" y="2711797"/>
            <a:ext cx="1232074" cy="154037"/>
          </a:xfrm>
          <a:prstGeom prst="rect">
            <a:avLst/>
          </a:prstGeom>
          <a:noFill/>
        </p:spPr>
        <p:txBody>
          <a:bodyPr wrap="none" lIns="0" tIns="0" rIns="0" bIns="0" anchor="t"/>
          <a:lstStyle/>
          <a:p>
            <a:pPr marL="0" indent="0" algn="ctr">
              <a:lnSpc>
                <a:spcPct val="104000"/>
              </a:lnSpc>
              <a:buNone/>
            </a:pPr>
            <a:r>
              <a:rPr sz="950">
                <a:solidFill>
                  <a:srgbClr val="FFFFFF"/>
                </a:solidFill>
                <a:latin typeface="Nunito SemiBold"/>
                <a:ea typeface="Nunito SemiBold"/>
                <a:cs typeface="Nunito SemiBold"/>
              </a:rPr>
              <a:t>Latest Observation</a:t>
            </a:r>
          </a:p>
        </p:txBody>
      </p:sp>
      <p:sp>
        <p:nvSpPr>
          <p:cNvPr id="14" name="Text 11">
            <a:extLst>
              <a:ext uri="{FF2B5EF4-FFF2-40B4-BE49-F238E27FC236}">
                <a16:creationId xmlns:a16="http://schemas.microsoft.com/office/drawing/2014/main" id="{7B007E6A-3A43-457D-BBD1-54BD05DB82D6}"/>
              </a:ext>
            </a:extLst>
          </p:cNvPr>
          <p:cNvSpPr>
            <a:spLocks noGrp="1"/>
          </p:cNvSpPr>
          <p:nvPr/>
        </p:nvSpPr>
        <p:spPr>
          <a:xfrm>
            <a:off x="1713384" y="2909813"/>
            <a:ext cx="2288158" cy="142354"/>
          </a:xfrm>
          <a:prstGeom prst="rect">
            <a:avLst/>
          </a:prstGeom>
          <a:noFill/>
        </p:spPr>
        <p:txBody>
          <a:bodyPr wrap="none" lIns="0" tIns="0" rIns="0" bIns="0" anchor="t"/>
          <a:lstStyle/>
          <a:p>
            <a:pPr marL="0" indent="0" algn="ctr">
              <a:lnSpc>
                <a:spcPct val="113000"/>
              </a:lnSpc>
              <a:buNone/>
            </a:pPr>
            <a:r>
              <a:rPr sz="800">
                <a:solidFill>
                  <a:srgbClr val="FFFFFF"/>
                </a:solidFill>
                <a:latin typeface="PT Sans"/>
                <a:ea typeface="PT Sans"/>
                <a:cs typeface="PT Sans"/>
              </a:rPr>
              <a:t>May 18, 2026</a:t>
            </a:r>
          </a:p>
        </p:txBody>
      </p:sp>
      <p:sp>
        <p:nvSpPr>
          <p:cNvPr id="15" name="Shape 12">
            <a:extLst>
              <a:ext uri="{FF2B5EF4-FFF2-40B4-BE49-F238E27FC236}">
                <a16:creationId xmlns:a16="http://schemas.microsoft.com/office/drawing/2014/main" id="{54881213-10F2-4F37-BBBA-50FC7FE2420C}"/>
              </a:ext>
            </a:extLst>
          </p:cNvPr>
          <p:cNvSpPr>
            <a:spLocks noGrp="1"/>
          </p:cNvSpPr>
          <p:nvPr/>
        </p:nvSpPr>
        <p:spPr>
          <a:xfrm>
            <a:off x="523577" y="3134618"/>
            <a:ext cx="4667845" cy="720700"/>
          </a:xfrm>
          <a:prstGeom prst="roundRect">
            <a:avLst>
              <a:gd name="adj" fmla="val 9516"/>
            </a:avLst>
          </a:prstGeom>
          <a:solidFill>
            <a:srgbClr val="00002E">
              <a:alpha val="75000"/>
            </a:srgbClr>
          </a:solidFill>
          <a:ln w="14288">
            <a:solidFill>
              <a:srgbClr val="F2B42D"/>
            </a:solidFill>
            <a:prstDash val="solid"/>
          </a:ln>
        </p:spPr>
        <p:txBody>
          <a:bodyPr/>
          <a:lstStyle/>
          <a:p>
            <a:endParaRPr/>
          </a:p>
        </p:txBody>
      </p:sp>
      <p:sp>
        <p:nvSpPr>
          <p:cNvPr id="16" name="Shape 13">
            <a:extLst>
              <a:ext uri="{FF2B5EF4-FFF2-40B4-BE49-F238E27FC236}">
                <a16:creationId xmlns:a16="http://schemas.microsoft.com/office/drawing/2014/main" id="{A983453E-AF17-44B7-98BC-66FEE71BDF2B}"/>
              </a:ext>
            </a:extLst>
          </p:cNvPr>
          <p:cNvSpPr>
            <a:spLocks noGrp="1"/>
          </p:cNvSpPr>
          <p:nvPr/>
        </p:nvSpPr>
        <p:spPr>
          <a:xfrm>
            <a:off x="509290" y="3134618"/>
            <a:ext cx="57150" cy="720700"/>
          </a:xfrm>
          <a:prstGeom prst="roundRect">
            <a:avLst>
              <a:gd name="adj" fmla="val 274880"/>
            </a:avLst>
          </a:prstGeom>
          <a:solidFill>
            <a:srgbClr val="F2B42D"/>
          </a:solidFill>
        </p:spPr>
        <p:txBody>
          <a:bodyPr/>
          <a:lstStyle/>
          <a:p>
            <a:endParaRPr/>
          </a:p>
        </p:txBody>
      </p:sp>
      <p:sp>
        <p:nvSpPr>
          <p:cNvPr id="17" name="Text 14">
            <a:extLst>
              <a:ext uri="{FF2B5EF4-FFF2-40B4-BE49-F238E27FC236}">
                <a16:creationId xmlns:a16="http://schemas.microsoft.com/office/drawing/2014/main" id="{9847ABFB-6F1D-4B52-B26C-B181711CBE17}"/>
              </a:ext>
            </a:extLst>
          </p:cNvPr>
          <p:cNvSpPr>
            <a:spLocks noGrp="1"/>
          </p:cNvSpPr>
          <p:nvPr/>
        </p:nvSpPr>
        <p:spPr>
          <a:xfrm>
            <a:off x="685428" y="3253606"/>
            <a:ext cx="1232074" cy="154037"/>
          </a:xfrm>
          <a:prstGeom prst="rect">
            <a:avLst/>
          </a:prstGeom>
          <a:noFill/>
        </p:spPr>
        <p:txBody>
          <a:bodyPr wrap="none" lIns="0" tIns="0" rIns="0" bIns="0" anchor="t"/>
          <a:lstStyle/>
          <a:p>
            <a:pPr marL="0" indent="0" algn="l">
              <a:lnSpc>
                <a:spcPct val="104000"/>
              </a:lnSpc>
              <a:buNone/>
            </a:pPr>
            <a:r>
              <a:rPr sz="950">
                <a:solidFill>
                  <a:srgbClr val="FFFFFF"/>
                </a:solidFill>
                <a:latin typeface="Nunito SemiBold"/>
                <a:ea typeface="Nunito SemiBold"/>
                <a:cs typeface="Nunito SemiBold"/>
              </a:rPr>
              <a:t>User Problem</a:t>
            </a:r>
          </a:p>
        </p:txBody>
      </p:sp>
      <p:sp>
        <p:nvSpPr>
          <p:cNvPr id="18" name="Text 15">
            <a:extLst>
              <a:ext uri="{FF2B5EF4-FFF2-40B4-BE49-F238E27FC236}">
                <a16:creationId xmlns:a16="http://schemas.microsoft.com/office/drawing/2014/main" id="{D315D29E-0075-4DBF-912E-D4CCC5F1E063}"/>
              </a:ext>
            </a:extLst>
          </p:cNvPr>
          <p:cNvSpPr>
            <a:spLocks noGrp="1"/>
          </p:cNvSpPr>
          <p:nvPr/>
        </p:nvSpPr>
        <p:spPr>
          <a:xfrm>
            <a:off x="685428" y="3451622"/>
            <a:ext cx="4387007" cy="284708"/>
          </a:xfrm>
          <a:prstGeom prst="rect">
            <a:avLst/>
          </a:prstGeom>
          <a:noFill/>
        </p:spPr>
        <p:txBody>
          <a:bodyPr wrap="square" lIns="0" tIns="0" rIns="0" bIns="0" anchor="t">
            <a:normAutofit fontScale="91847"/>
          </a:bodyPr>
          <a:lstStyle/>
          <a:p>
            <a:pPr marL="0" indent="0" algn="l">
              <a:lnSpc>
                <a:spcPct val="113000"/>
              </a:lnSpc>
              <a:buNone/>
            </a:pPr>
            <a:r>
              <a:rPr sz="800">
                <a:solidFill>
                  <a:srgbClr val="FFFFFF"/>
                </a:solidFill>
                <a:latin typeface="PT Sans"/>
                <a:ea typeface="PT Sans"/>
                <a:cs typeface="PT Sans"/>
              </a:rPr>
              <a:t>Price movement is hard to reason about from raw weekly tables. A useful class demo needs both an interface and a deployed model endpoint.</a:t>
            </a:r>
          </a:p>
        </p:txBody>
      </p:sp>
      <p:sp>
        <p:nvSpPr>
          <p:cNvPr id="19" name="Shape 16">
            <a:extLst>
              <a:ext uri="{FF2B5EF4-FFF2-40B4-BE49-F238E27FC236}">
                <a16:creationId xmlns:a16="http://schemas.microsoft.com/office/drawing/2014/main" id="{BA5D1CA0-C9A5-43B7-8165-53A7EBDC736B}"/>
              </a:ext>
            </a:extLst>
          </p:cNvPr>
          <p:cNvSpPr>
            <a:spLocks noGrp="1"/>
          </p:cNvSpPr>
          <p:nvPr/>
        </p:nvSpPr>
        <p:spPr>
          <a:xfrm>
            <a:off x="523577" y="3928616"/>
            <a:ext cx="4667845" cy="720700"/>
          </a:xfrm>
          <a:prstGeom prst="roundRect">
            <a:avLst>
              <a:gd name="adj" fmla="val 9516"/>
            </a:avLst>
          </a:prstGeom>
          <a:solidFill>
            <a:srgbClr val="00002E">
              <a:alpha val="75000"/>
            </a:srgbClr>
          </a:solidFill>
          <a:ln w="14288">
            <a:solidFill>
              <a:srgbClr val="D7425E"/>
            </a:solidFill>
            <a:prstDash val="solid"/>
          </a:ln>
        </p:spPr>
        <p:txBody>
          <a:bodyPr/>
          <a:lstStyle/>
          <a:p>
            <a:endParaRPr/>
          </a:p>
        </p:txBody>
      </p:sp>
      <p:sp>
        <p:nvSpPr>
          <p:cNvPr id="20" name="Shape 17">
            <a:extLst>
              <a:ext uri="{FF2B5EF4-FFF2-40B4-BE49-F238E27FC236}">
                <a16:creationId xmlns:a16="http://schemas.microsoft.com/office/drawing/2014/main" id="{6CA15C8B-69B6-47EA-9FC3-249ADA18F397}"/>
              </a:ext>
            </a:extLst>
          </p:cNvPr>
          <p:cNvSpPr>
            <a:spLocks noGrp="1"/>
          </p:cNvSpPr>
          <p:nvPr/>
        </p:nvSpPr>
        <p:spPr>
          <a:xfrm>
            <a:off x="509290" y="3928616"/>
            <a:ext cx="57150" cy="720700"/>
          </a:xfrm>
          <a:prstGeom prst="roundRect">
            <a:avLst>
              <a:gd name="adj" fmla="val 274880"/>
            </a:avLst>
          </a:prstGeom>
          <a:solidFill>
            <a:srgbClr val="D7425E"/>
          </a:solidFill>
        </p:spPr>
        <p:txBody>
          <a:bodyPr/>
          <a:lstStyle/>
          <a:p>
            <a:endParaRPr/>
          </a:p>
        </p:txBody>
      </p:sp>
      <p:sp>
        <p:nvSpPr>
          <p:cNvPr id="21" name="Text 18">
            <a:extLst>
              <a:ext uri="{FF2B5EF4-FFF2-40B4-BE49-F238E27FC236}">
                <a16:creationId xmlns:a16="http://schemas.microsoft.com/office/drawing/2014/main" id="{E362B334-266B-4DF0-A129-D28E9AB125EC}"/>
              </a:ext>
            </a:extLst>
          </p:cNvPr>
          <p:cNvSpPr>
            <a:spLocks noGrp="1"/>
          </p:cNvSpPr>
          <p:nvPr/>
        </p:nvSpPr>
        <p:spPr>
          <a:xfrm>
            <a:off x="685428" y="4047604"/>
            <a:ext cx="1232074" cy="154037"/>
          </a:xfrm>
          <a:prstGeom prst="rect">
            <a:avLst/>
          </a:prstGeom>
          <a:noFill/>
        </p:spPr>
        <p:txBody>
          <a:bodyPr wrap="none" lIns="0" tIns="0" rIns="0" bIns="0" anchor="t"/>
          <a:lstStyle/>
          <a:p>
            <a:pPr marL="0" indent="0" algn="l">
              <a:lnSpc>
                <a:spcPct val="104000"/>
              </a:lnSpc>
              <a:buNone/>
            </a:pPr>
            <a:r>
              <a:rPr sz="950">
                <a:solidFill>
                  <a:srgbClr val="FFFFFF"/>
                </a:solidFill>
                <a:latin typeface="Nunito SemiBold"/>
                <a:ea typeface="Nunito SemiBold"/>
                <a:cs typeface="Nunito SemiBold"/>
              </a:rPr>
              <a:t>Project Objective</a:t>
            </a:r>
          </a:p>
        </p:txBody>
      </p:sp>
      <p:sp>
        <p:nvSpPr>
          <p:cNvPr id="22" name="Text 19">
            <a:extLst>
              <a:ext uri="{FF2B5EF4-FFF2-40B4-BE49-F238E27FC236}">
                <a16:creationId xmlns:a16="http://schemas.microsoft.com/office/drawing/2014/main" id="{DB90751A-001A-4635-9ABD-AEC504FBDF0D}"/>
              </a:ext>
            </a:extLst>
          </p:cNvPr>
          <p:cNvSpPr>
            <a:spLocks noGrp="1"/>
          </p:cNvSpPr>
          <p:nvPr/>
        </p:nvSpPr>
        <p:spPr>
          <a:xfrm>
            <a:off x="685428" y="4245620"/>
            <a:ext cx="4387007" cy="284708"/>
          </a:xfrm>
          <a:prstGeom prst="rect">
            <a:avLst/>
          </a:prstGeom>
          <a:noFill/>
        </p:spPr>
        <p:txBody>
          <a:bodyPr wrap="square" lIns="0" tIns="0" rIns="0" bIns="0" anchor="t">
            <a:normAutofit fontScale="91847"/>
          </a:bodyPr>
          <a:lstStyle/>
          <a:p>
            <a:pPr marL="0" indent="0" algn="l">
              <a:lnSpc>
                <a:spcPct val="113000"/>
              </a:lnSpc>
              <a:buNone/>
            </a:pPr>
            <a:r>
              <a:rPr sz="800">
                <a:solidFill>
                  <a:srgbClr val="FFFFFF"/>
                </a:solidFill>
                <a:latin typeface="PT Sans"/>
                <a:ea typeface="PT Sans"/>
                <a:cs typeface="PT Sans"/>
              </a:rPr>
              <a:t>Make model choice and forecast horizon interactive. Deploy the API and app separately so the architecture matches production patterns.</a:t>
            </a:r>
          </a:p>
        </p:txBody>
      </p:sp>
    </p:spTree>
    <p:extLst>
      <p:ext uri="{BB962C8B-B14F-4D97-AF65-F5344CB8AC3E}">
        <p14:creationId xmlns:p14="http://schemas.microsoft.com/office/powerpoint/2010/main" val="1714973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CAD9EC8-679D-4BA4-AA2E-C69473F2C409}"/>
              </a:ext>
            </a:extLst>
          </p:cNvPr>
          <p:cNvSpPr>
            <a:spLocks noGrp="1"/>
          </p:cNvSpPr>
          <p:nvPr/>
        </p:nvSpPr>
        <p:spPr>
          <a:xfrm>
            <a:off x="261789" y="205680"/>
            <a:ext cx="340370" cy="86171"/>
          </a:xfrm>
          <a:prstGeom prst="roundRect">
            <a:avLst>
              <a:gd name="adj" fmla="val 72922"/>
            </a:avLst>
          </a:prstGeom>
          <a:noFill/>
          <a:ln w="4763">
            <a:solidFill>
              <a:srgbClr val="F2B42D"/>
            </a:solidFill>
            <a:prstDash val="solid"/>
          </a:ln>
        </p:spPr>
        <p:txBody>
          <a:bodyPr/>
          <a:lstStyle/>
          <a:p>
            <a:endParaRPr/>
          </a:p>
        </p:txBody>
      </p:sp>
      <p:sp>
        <p:nvSpPr>
          <p:cNvPr id="3" name="Text 1">
            <a:extLst>
              <a:ext uri="{FF2B5EF4-FFF2-40B4-BE49-F238E27FC236}">
                <a16:creationId xmlns:a16="http://schemas.microsoft.com/office/drawing/2014/main" id="{B47AFE02-719D-4445-91D5-7380CE421DB1}"/>
              </a:ext>
            </a:extLst>
          </p:cNvPr>
          <p:cNvSpPr>
            <a:spLocks noGrp="1"/>
          </p:cNvSpPr>
          <p:nvPr/>
        </p:nvSpPr>
        <p:spPr>
          <a:xfrm>
            <a:off x="297954" y="226144"/>
            <a:ext cx="725239" cy="45244"/>
          </a:xfrm>
          <a:prstGeom prst="rect">
            <a:avLst/>
          </a:prstGeom>
          <a:noFill/>
        </p:spPr>
        <p:txBody>
          <a:bodyPr wrap="none" lIns="0" tIns="0" rIns="0" bIns="0" anchor="t"/>
          <a:lstStyle/>
          <a:p>
            <a:pPr marL="0" indent="0" algn="l">
              <a:lnSpc>
                <a:spcPct val="90000"/>
              </a:lnSpc>
              <a:buNone/>
            </a:pPr>
            <a:r>
              <a:rPr sz="300">
                <a:solidFill>
                  <a:srgbClr val="F2B42D"/>
                </a:solidFill>
                <a:latin typeface="PT Sans"/>
                <a:ea typeface="PT Sans"/>
                <a:cs typeface="PT Sans"/>
              </a:rPr>
              <a:t>DATA PIPELINE</a:t>
            </a:r>
          </a:p>
        </p:txBody>
      </p:sp>
      <p:sp>
        <p:nvSpPr>
          <p:cNvPr id="4" name="Text 2">
            <a:extLst>
              <a:ext uri="{FF2B5EF4-FFF2-40B4-BE49-F238E27FC236}">
                <a16:creationId xmlns:a16="http://schemas.microsoft.com/office/drawing/2014/main" id="{3A24230C-9B56-4248-A0B8-E92BD2AF769F}"/>
              </a:ext>
            </a:extLst>
          </p:cNvPr>
          <p:cNvSpPr>
            <a:spLocks noGrp="1"/>
          </p:cNvSpPr>
          <p:nvPr/>
        </p:nvSpPr>
        <p:spPr>
          <a:xfrm>
            <a:off x="261789" y="299145"/>
            <a:ext cx="4026991" cy="154037"/>
          </a:xfrm>
          <a:prstGeom prst="rect">
            <a:avLst/>
          </a:prstGeom>
          <a:noFill/>
        </p:spPr>
        <p:txBody>
          <a:bodyPr wrap="none" lIns="0" tIns="0" rIns="0" bIns="0" anchor="t"/>
          <a:lstStyle/>
          <a:p>
            <a:pPr marL="0" indent="0" algn="l">
              <a:lnSpc>
                <a:spcPct val="104000"/>
              </a:lnSpc>
              <a:buNone/>
            </a:pPr>
            <a:r>
              <a:rPr sz="950">
                <a:solidFill>
                  <a:srgbClr val="FFFFFF"/>
                </a:solidFill>
                <a:latin typeface="Nunito SemiBold"/>
                <a:ea typeface="Nunito SemiBold"/>
                <a:cs typeface="Nunito SemiBold"/>
              </a:rPr>
              <a:t>EIA Weekly Gasoline Prices Become Model-Ready Lag Features</a:t>
            </a:r>
          </a:p>
        </p:txBody>
      </p:sp>
      <p:pic>
        <p:nvPicPr>
          <p:cNvPr id="5" name="Image 0"/>
          <p:cNvPicPr>
            <a:picLocks noChangeAspect="1"/>
          </p:cNvPicPr>
          <p:nvPr/>
        </p:nvPicPr>
        <p:blipFill>
          <a:blip r:embed="rId3"/>
          <a:stretch>
            <a:fillRect/>
          </a:stretch>
        </p:blipFill>
        <p:spPr>
          <a:xfrm>
            <a:off x="1554882" y="480640"/>
            <a:ext cx="6034236" cy="2380506"/>
          </a:xfrm>
          <a:prstGeom prst="rect">
            <a:avLst/>
          </a:prstGeom>
        </p:spPr>
      </p:pic>
      <p:sp>
        <p:nvSpPr>
          <p:cNvPr id="6" name="Text 3">
            <a:extLst>
              <a:ext uri="{FF2B5EF4-FFF2-40B4-BE49-F238E27FC236}">
                <a16:creationId xmlns:a16="http://schemas.microsoft.com/office/drawing/2014/main" id="{035FF6E6-110E-459C-A45D-43083703679C}"/>
              </a:ext>
            </a:extLst>
          </p:cNvPr>
          <p:cNvSpPr>
            <a:spLocks noGrp="1"/>
          </p:cNvSpPr>
          <p:nvPr/>
        </p:nvSpPr>
        <p:spPr>
          <a:xfrm>
            <a:off x="2264990" y="1305078"/>
            <a:ext cx="1428995" cy="153611"/>
          </a:xfrm>
          <a:prstGeom prst="rect">
            <a:avLst/>
          </a:prstGeom>
          <a:noFill/>
        </p:spPr>
        <p:txBody>
          <a:bodyPr wrap="none" lIns="0" tIns="0" rIns="0" bIns="0" anchor="t"/>
          <a:lstStyle/>
          <a:p>
            <a:pPr marL="0" indent="0" algn="ctr">
              <a:lnSpc>
                <a:spcPct val="104000"/>
              </a:lnSpc>
              <a:buNone/>
            </a:pPr>
            <a:r>
              <a:rPr sz="950">
                <a:solidFill>
                  <a:srgbClr val="FFFFFF"/>
                </a:solidFill>
                <a:latin typeface="Nunito SemiBold"/>
                <a:ea typeface="Nunito SemiBold"/>
                <a:cs typeface="Nunito SemiBold"/>
              </a:rPr>
              <a:t>Collect</a:t>
            </a:r>
          </a:p>
        </p:txBody>
      </p:sp>
      <p:sp>
        <p:nvSpPr>
          <p:cNvPr id="7" name="Text 4">
            <a:extLst>
              <a:ext uri="{FF2B5EF4-FFF2-40B4-BE49-F238E27FC236}">
                <a16:creationId xmlns:a16="http://schemas.microsoft.com/office/drawing/2014/main" id="{8B99CD92-BB39-49EB-BBF7-10330CF11E94}"/>
              </a:ext>
            </a:extLst>
          </p:cNvPr>
          <p:cNvSpPr>
            <a:spLocks noGrp="1"/>
          </p:cNvSpPr>
          <p:nvPr/>
        </p:nvSpPr>
        <p:spPr>
          <a:xfrm>
            <a:off x="2493590" y="1505144"/>
            <a:ext cx="1200395" cy="264577"/>
          </a:xfrm>
          <a:prstGeom prst="rect">
            <a:avLst/>
          </a:prstGeom>
          <a:noFill/>
        </p:spPr>
        <p:txBody>
          <a:bodyPr wrap="square" lIns="0" tIns="0" rIns="0" bIns="0" anchor="t">
            <a:normAutofit fontScale="95794"/>
          </a:bodyPr>
          <a:lstStyle/>
          <a:p>
            <a:pPr marL="0" indent="0" algn="ctr">
              <a:lnSpc>
                <a:spcPct val="70000"/>
              </a:lnSpc>
              <a:buNone/>
            </a:pPr>
            <a:r>
              <a:rPr sz="800">
                <a:solidFill>
                  <a:srgbClr val="FFFFFF"/>
                </a:solidFill>
                <a:latin typeface="PT Sans"/>
                <a:ea typeface="PT Sans"/>
                <a:cs typeface="PT Sans"/>
              </a:rPr>
              <a:t>EIA Open Data API; synthetic fallback for CI/local</a:t>
            </a:r>
          </a:p>
        </p:txBody>
      </p:sp>
      <p:sp>
        <p:nvSpPr>
          <p:cNvPr id="8" name="Text 5">
            <a:extLst>
              <a:ext uri="{FF2B5EF4-FFF2-40B4-BE49-F238E27FC236}">
                <a16:creationId xmlns:a16="http://schemas.microsoft.com/office/drawing/2014/main" id="{7CBC07BD-FE0D-4AE6-948E-1CF47D0A2EA9}"/>
              </a:ext>
            </a:extLst>
          </p:cNvPr>
          <p:cNvSpPr>
            <a:spLocks noGrp="1"/>
          </p:cNvSpPr>
          <p:nvPr/>
        </p:nvSpPr>
        <p:spPr>
          <a:xfrm>
            <a:off x="3757363" y="1571923"/>
            <a:ext cx="1428995" cy="153611"/>
          </a:xfrm>
          <a:prstGeom prst="rect">
            <a:avLst/>
          </a:prstGeom>
          <a:noFill/>
        </p:spPr>
        <p:txBody>
          <a:bodyPr wrap="none" lIns="0" tIns="0" rIns="0" bIns="0" anchor="t"/>
          <a:lstStyle/>
          <a:p>
            <a:pPr marL="0" indent="0" algn="ctr">
              <a:lnSpc>
                <a:spcPct val="104000"/>
              </a:lnSpc>
              <a:buNone/>
            </a:pPr>
            <a:r>
              <a:rPr sz="950">
                <a:solidFill>
                  <a:srgbClr val="FFFFFF"/>
                </a:solidFill>
                <a:latin typeface="Nunito SemiBold"/>
                <a:ea typeface="Nunito SemiBold"/>
                <a:cs typeface="Nunito SemiBold"/>
              </a:rPr>
              <a:t>Clean</a:t>
            </a:r>
          </a:p>
        </p:txBody>
      </p:sp>
      <p:sp>
        <p:nvSpPr>
          <p:cNvPr id="9" name="Text 6">
            <a:extLst>
              <a:ext uri="{FF2B5EF4-FFF2-40B4-BE49-F238E27FC236}">
                <a16:creationId xmlns:a16="http://schemas.microsoft.com/office/drawing/2014/main" id="{169C0109-B560-4F38-922F-959A04F7605E}"/>
              </a:ext>
            </a:extLst>
          </p:cNvPr>
          <p:cNvSpPr>
            <a:spLocks noGrp="1"/>
          </p:cNvSpPr>
          <p:nvPr/>
        </p:nvSpPr>
        <p:spPr>
          <a:xfrm>
            <a:off x="3985963" y="1771989"/>
            <a:ext cx="1200395" cy="264577"/>
          </a:xfrm>
          <a:prstGeom prst="rect">
            <a:avLst/>
          </a:prstGeom>
          <a:noFill/>
        </p:spPr>
        <p:txBody>
          <a:bodyPr wrap="square" lIns="0" tIns="0" rIns="0" bIns="0" anchor="t">
            <a:normAutofit fontScale="95794"/>
          </a:bodyPr>
          <a:lstStyle/>
          <a:p>
            <a:pPr marL="0" indent="0" algn="ctr">
              <a:lnSpc>
                <a:spcPct val="70000"/>
              </a:lnSpc>
              <a:buNone/>
            </a:pPr>
            <a:r>
              <a:rPr sz="800">
                <a:solidFill>
                  <a:srgbClr val="FFFFFF"/>
                </a:solidFill>
                <a:latin typeface="PT Sans"/>
                <a:ea typeface="PT Sans"/>
                <a:cs typeface="PT Sans"/>
              </a:rPr>
              <a:t>Sort by period, coerce price, dedupe weeks, save raw CSV</a:t>
            </a:r>
          </a:p>
        </p:txBody>
      </p:sp>
      <p:sp>
        <p:nvSpPr>
          <p:cNvPr id="10" name="Text 7">
            <a:extLst>
              <a:ext uri="{FF2B5EF4-FFF2-40B4-BE49-F238E27FC236}">
                <a16:creationId xmlns:a16="http://schemas.microsoft.com/office/drawing/2014/main" id="{10EF3E2D-9774-4783-85DF-63DB9F886313}"/>
              </a:ext>
            </a:extLst>
          </p:cNvPr>
          <p:cNvSpPr>
            <a:spLocks noGrp="1"/>
          </p:cNvSpPr>
          <p:nvPr/>
        </p:nvSpPr>
        <p:spPr>
          <a:xfrm>
            <a:off x="5267156" y="1305078"/>
            <a:ext cx="1428995" cy="153611"/>
          </a:xfrm>
          <a:prstGeom prst="rect">
            <a:avLst/>
          </a:prstGeom>
          <a:noFill/>
        </p:spPr>
        <p:txBody>
          <a:bodyPr wrap="none" lIns="0" tIns="0" rIns="0" bIns="0" anchor="t"/>
          <a:lstStyle/>
          <a:p>
            <a:pPr marL="0" indent="0" algn="ctr">
              <a:lnSpc>
                <a:spcPct val="104000"/>
              </a:lnSpc>
              <a:buNone/>
            </a:pPr>
            <a:r>
              <a:rPr sz="950">
                <a:solidFill>
                  <a:srgbClr val="FFFFFF"/>
                </a:solidFill>
                <a:latin typeface="Nunito SemiBold"/>
                <a:ea typeface="Nunito SemiBold"/>
                <a:cs typeface="Nunito SemiBold"/>
              </a:rPr>
              <a:t>Model Frame</a:t>
            </a:r>
          </a:p>
        </p:txBody>
      </p:sp>
      <p:sp>
        <p:nvSpPr>
          <p:cNvPr id="11" name="Text 8">
            <a:extLst>
              <a:ext uri="{FF2B5EF4-FFF2-40B4-BE49-F238E27FC236}">
                <a16:creationId xmlns:a16="http://schemas.microsoft.com/office/drawing/2014/main" id="{DC059FB1-B66D-44EF-93B4-0A02DD17E193}"/>
              </a:ext>
            </a:extLst>
          </p:cNvPr>
          <p:cNvSpPr>
            <a:spLocks noGrp="1"/>
          </p:cNvSpPr>
          <p:nvPr/>
        </p:nvSpPr>
        <p:spPr>
          <a:xfrm>
            <a:off x="5495756" y="1505144"/>
            <a:ext cx="1200395" cy="176385"/>
          </a:xfrm>
          <a:prstGeom prst="rect">
            <a:avLst/>
          </a:prstGeom>
          <a:noFill/>
        </p:spPr>
        <p:txBody>
          <a:bodyPr wrap="square" lIns="0" tIns="0" rIns="0" bIns="0" anchor="t">
            <a:normAutofit fontScale="95794"/>
          </a:bodyPr>
          <a:lstStyle/>
          <a:p>
            <a:pPr marL="0" indent="0" algn="ctr">
              <a:lnSpc>
                <a:spcPct val="70000"/>
              </a:lnSpc>
              <a:buNone/>
            </a:pPr>
            <a:r>
              <a:rPr sz="800">
                <a:solidFill>
                  <a:srgbClr val="FFFFFF"/>
                </a:solidFill>
                <a:latin typeface="PT Sans"/>
                <a:ea typeface="PT Sans"/>
                <a:cs typeface="PT Sans"/>
              </a:rPr>
              <a:t>Create lags 1/2/4/8/52, month and ISO week</a:t>
            </a:r>
          </a:p>
        </p:txBody>
      </p:sp>
      <p:sp>
        <p:nvSpPr>
          <p:cNvPr id="12" name="Text 9">
            <a:extLst>
              <a:ext uri="{FF2B5EF4-FFF2-40B4-BE49-F238E27FC236}">
                <a16:creationId xmlns:a16="http://schemas.microsoft.com/office/drawing/2014/main" id="{C772065A-6E59-4D6C-BC16-A1B92228EA4D}"/>
              </a:ext>
            </a:extLst>
          </p:cNvPr>
          <p:cNvSpPr>
            <a:spLocks noGrp="1"/>
          </p:cNvSpPr>
          <p:nvPr/>
        </p:nvSpPr>
        <p:spPr>
          <a:xfrm>
            <a:off x="261747" y="2838450"/>
            <a:ext cx="5334000" cy="323850"/>
          </a:xfrm>
          <a:prstGeom prst="rect">
            <a:avLst/>
          </a:prstGeom>
          <a:noFill/>
        </p:spPr>
        <p:txBody>
          <a:bodyPr wrap="none" lIns="0" tIns="0" rIns="0" bIns="0" anchor="t"/>
          <a:lstStyle/>
          <a:p>
            <a:pPr marL="0" indent="0" algn="l">
              <a:lnSpc>
                <a:spcPct val="90000"/>
              </a:lnSpc>
              <a:buNone/>
            </a:pPr>
            <a:r>
              <a:rPr sz="863">
                <a:solidFill>
                  <a:srgbClr val="E5E7EB"/>
                </a:solidFill>
                <a:latin typeface="PT Sans"/>
                <a:ea typeface="PT Sans"/>
                <a:cs typeface="PT Sans"/>
              </a:rPr>
              <a:t>Explainable features: recent lags capture price level and momentum; calendar fields capture weekly seasonality.</a:t>
            </a:r>
          </a:p>
        </p:txBody>
      </p:sp>
      <p:pic>
        <p:nvPicPr>
          <p:cNvPr id="13" name="Image 1"/>
          <p:cNvPicPr>
            <a:picLocks noChangeAspect="1"/>
          </p:cNvPicPr>
          <p:nvPr/>
        </p:nvPicPr>
        <p:blipFill>
          <a:blip r:embed="rId4"/>
          <a:stretch>
            <a:fillRect/>
          </a:stretch>
        </p:blipFill>
        <p:spPr>
          <a:xfrm>
            <a:off x="261789" y="2979539"/>
            <a:ext cx="3890963" cy="2204814"/>
          </a:xfrm>
          <a:prstGeom prst="rect">
            <a:avLst/>
          </a:prstGeom>
        </p:spPr>
      </p:pic>
      <p:sp>
        <p:nvSpPr>
          <p:cNvPr id="14" name="Text 10">
            <a:extLst>
              <a:ext uri="{FF2B5EF4-FFF2-40B4-BE49-F238E27FC236}">
                <a16:creationId xmlns:a16="http://schemas.microsoft.com/office/drawing/2014/main" id="{45B3C608-B3CC-4A50-9490-5D21D6D2A352}"/>
              </a:ext>
            </a:extLst>
          </p:cNvPr>
          <p:cNvSpPr>
            <a:spLocks noGrp="1"/>
          </p:cNvSpPr>
          <p:nvPr/>
        </p:nvSpPr>
        <p:spPr>
          <a:xfrm>
            <a:off x="5952839" y="3752850"/>
            <a:ext cx="2095500" cy="190500"/>
          </a:xfrm>
          <a:prstGeom prst="rect">
            <a:avLst/>
          </a:prstGeom>
          <a:noFill/>
        </p:spPr>
        <p:txBody>
          <a:bodyPr wrap="none" lIns="0" tIns="0" rIns="0" bIns="0" anchor="t"/>
          <a:lstStyle/>
          <a:p>
            <a:pPr marL="0" indent="0" algn="l">
              <a:lnSpc>
                <a:spcPct val="104000"/>
              </a:lnSpc>
              <a:buNone/>
            </a:pPr>
            <a:r>
              <a:rPr sz="450">
                <a:solidFill>
                  <a:srgbClr val="FFFFFF"/>
                </a:solidFill>
                <a:latin typeface="Nunito SemiBold"/>
                <a:ea typeface="Nunito SemiBold"/>
                <a:cs typeface="Nunito SemiBold"/>
              </a:rPr>
              <a:t>Feature Engineering</a:t>
            </a:r>
          </a:p>
        </p:txBody>
      </p:sp>
      <p:sp>
        <p:nvSpPr>
          <p:cNvPr id="15" name="Text 11">
            <a:extLst>
              <a:ext uri="{FF2B5EF4-FFF2-40B4-BE49-F238E27FC236}">
                <a16:creationId xmlns:a16="http://schemas.microsoft.com/office/drawing/2014/main" id="{B2742319-011F-4F1D-8B0A-0A2958689F8F}"/>
              </a:ext>
            </a:extLst>
          </p:cNvPr>
          <p:cNvSpPr>
            <a:spLocks noGrp="1"/>
          </p:cNvSpPr>
          <p:nvPr/>
        </p:nvSpPr>
        <p:spPr>
          <a:xfrm>
            <a:off x="5952839" y="3962400"/>
            <a:ext cx="2952750" cy="742950"/>
          </a:xfrm>
          <a:prstGeom prst="rect">
            <a:avLst/>
          </a:prstGeom>
          <a:noFill/>
        </p:spPr>
        <p:txBody>
          <a:bodyPr wrap="square" lIns="0" tIns="0" rIns="0" bIns="0" anchor="t">
            <a:normAutofit/>
          </a:bodyPr>
          <a:lstStyle/>
          <a:p>
            <a:pPr marL="342900" indent="-342900" algn="l">
              <a:lnSpc>
                <a:spcPct val="90000"/>
              </a:lnSpc>
              <a:buChar char="•"/>
            </a:pPr>
            <a:r>
              <a:rPr sz="788">
                <a:solidFill>
                  <a:srgbClr val="F9FAFB"/>
                </a:solidFill>
                <a:latin typeface="PT Sans"/>
                <a:ea typeface="PT Sans"/>
                <a:cs typeface="PT Sans"/>
              </a:rPr>
              <a:t>Lags 1, 2, 4, 8, 52: recent level, momentum, annual seasonality</a:t>
            </a:r>
          </a:p>
          <a:p>
            <a:pPr marL="342900" indent="-342900" algn="l">
              <a:lnSpc>
                <a:spcPct val="90000"/>
              </a:lnSpc>
              <a:buChar char="•"/>
            </a:pPr>
            <a:r>
              <a:rPr sz="788">
                <a:solidFill>
                  <a:srgbClr val="F9FAFB"/>
                </a:solidFill>
                <a:latin typeface="PT Sans"/>
                <a:ea typeface="PT Sans"/>
                <a:cs typeface="PT Sans"/>
              </a:rPr>
              <a:t>Month + ISO week: calendar structure</a:t>
            </a:r>
          </a:p>
          <a:p>
            <a:pPr marL="342900" indent="-342900" algn="l">
              <a:lnSpc>
                <a:spcPct val="90000"/>
              </a:lnSpc>
              <a:buChar char="•"/>
            </a:pPr>
            <a:r>
              <a:rPr sz="788">
                <a:solidFill>
                  <a:srgbClr val="F9FAFB"/>
                </a:solidFill>
                <a:latin typeface="PT Sans"/>
                <a:ea typeface="PT Sans"/>
                <a:cs typeface="PT Sans"/>
              </a:rPr>
              <a:t>1,729 rows: Apr 5, 1993 to May 18, 2026</a:t>
            </a:r>
          </a:p>
        </p:txBody>
      </p:sp>
    </p:spTree>
    <p:extLst>
      <p:ext uri="{BB962C8B-B14F-4D97-AF65-F5344CB8AC3E}">
        <p14:creationId xmlns:p14="http://schemas.microsoft.com/office/powerpoint/2010/main" val="860558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39A77CC-9ACF-42C9-BB23-CC271E17E8BF}"/>
              </a:ext>
            </a:extLst>
          </p:cNvPr>
          <p:cNvSpPr>
            <a:spLocks noGrp="1"/>
          </p:cNvSpPr>
          <p:nvPr/>
        </p:nvSpPr>
        <p:spPr>
          <a:xfrm>
            <a:off x="523577" y="495151"/>
            <a:ext cx="1277987" cy="309711"/>
          </a:xfrm>
          <a:prstGeom prst="roundRect">
            <a:avLst>
              <a:gd name="adj" fmla="val 57969"/>
            </a:avLst>
          </a:prstGeom>
          <a:noFill/>
          <a:ln w="14288">
            <a:solidFill>
              <a:srgbClr val="F2B42D"/>
            </a:solidFill>
            <a:prstDash val="solid"/>
          </a:ln>
        </p:spPr>
        <p:txBody>
          <a:bodyPr/>
          <a:lstStyle/>
          <a:p>
            <a:endParaRPr/>
          </a:p>
        </p:txBody>
      </p:sp>
      <p:sp>
        <p:nvSpPr>
          <p:cNvPr id="3" name="Text 1">
            <a:extLst>
              <a:ext uri="{FF2B5EF4-FFF2-40B4-BE49-F238E27FC236}">
                <a16:creationId xmlns:a16="http://schemas.microsoft.com/office/drawing/2014/main" id="{EBED531F-30BD-471D-9CD5-46CCA27834A2}"/>
              </a:ext>
            </a:extLst>
          </p:cNvPr>
          <p:cNvSpPr>
            <a:spLocks noGrp="1"/>
          </p:cNvSpPr>
          <p:nvPr/>
        </p:nvSpPr>
        <p:spPr>
          <a:xfrm>
            <a:off x="627608" y="554310"/>
            <a:ext cx="1527125" cy="191393"/>
          </a:xfrm>
          <a:prstGeom prst="rect">
            <a:avLst/>
          </a:prstGeom>
          <a:noFill/>
        </p:spPr>
        <p:txBody>
          <a:bodyPr wrap="none" lIns="0" tIns="0" rIns="0" bIns="0" anchor="t"/>
          <a:lstStyle/>
          <a:p>
            <a:pPr marL="0" indent="0" algn="l">
              <a:lnSpc>
                <a:spcPct val="133000"/>
              </a:lnSpc>
              <a:buNone/>
            </a:pPr>
            <a:r>
              <a:rPr sz="900">
                <a:solidFill>
                  <a:srgbClr val="F2B42D"/>
                </a:solidFill>
                <a:latin typeface="PT Sans"/>
                <a:ea typeface="PT Sans"/>
                <a:cs typeface="PT Sans"/>
              </a:rPr>
              <a:t>MODEL EVALUATION</a:t>
            </a:r>
          </a:p>
        </p:txBody>
      </p:sp>
      <p:sp>
        <p:nvSpPr>
          <p:cNvPr id="4" name="Text 2">
            <a:extLst>
              <a:ext uri="{FF2B5EF4-FFF2-40B4-BE49-F238E27FC236}">
                <a16:creationId xmlns:a16="http://schemas.microsoft.com/office/drawing/2014/main" id="{1F6BB60A-C587-4552-B4CD-8D58A2DE189C}"/>
              </a:ext>
            </a:extLst>
          </p:cNvPr>
          <p:cNvSpPr>
            <a:spLocks noGrp="1"/>
          </p:cNvSpPr>
          <p:nvPr/>
        </p:nvSpPr>
        <p:spPr>
          <a:xfrm>
            <a:off x="523577" y="864691"/>
            <a:ext cx="8339435" cy="440010"/>
          </a:xfrm>
          <a:prstGeom prst="rect">
            <a:avLst/>
          </a:prstGeom>
          <a:noFill/>
        </p:spPr>
        <p:txBody>
          <a:bodyPr wrap="none" lIns="0" tIns="0" rIns="0" bIns="0" anchor="t"/>
          <a:lstStyle/>
          <a:p>
            <a:pPr marL="0" indent="0" algn="l">
              <a:lnSpc>
                <a:spcPct val="104000"/>
              </a:lnSpc>
              <a:buNone/>
            </a:pPr>
            <a:r>
              <a:rPr sz="2750">
                <a:solidFill>
                  <a:srgbClr val="FFFFFF"/>
                </a:solidFill>
                <a:latin typeface="Nunito SemiBold"/>
                <a:ea typeface="Nunito SemiBold"/>
                <a:cs typeface="Nunito SemiBold"/>
              </a:rPr>
              <a:t>XGBoost Won the 52-Week Holdout Comparison</a:t>
            </a:r>
          </a:p>
        </p:txBody>
      </p:sp>
      <p:pic>
        <p:nvPicPr>
          <p:cNvPr id="5" name="Image 0"/>
          <p:cNvPicPr>
            <a:picLocks noChangeAspect="1"/>
          </p:cNvPicPr>
          <p:nvPr/>
        </p:nvPicPr>
        <p:blipFill>
          <a:blip r:embed="rId3"/>
          <a:stretch>
            <a:fillRect/>
          </a:stretch>
        </p:blipFill>
        <p:spPr>
          <a:xfrm>
            <a:off x="523577" y="1697310"/>
            <a:ext cx="3865959" cy="2782714"/>
          </a:xfrm>
          <a:prstGeom prst="rect">
            <a:avLst/>
          </a:prstGeom>
        </p:spPr>
      </p:pic>
      <p:sp>
        <p:nvSpPr>
          <p:cNvPr id="6" name="Text 3">
            <a:extLst>
              <a:ext uri="{FF2B5EF4-FFF2-40B4-BE49-F238E27FC236}">
                <a16:creationId xmlns:a16="http://schemas.microsoft.com/office/drawing/2014/main" id="{7BF3E6AD-3499-43B9-B645-368919F20472}"/>
              </a:ext>
            </a:extLst>
          </p:cNvPr>
          <p:cNvSpPr>
            <a:spLocks noGrp="1"/>
          </p:cNvSpPr>
          <p:nvPr/>
        </p:nvSpPr>
        <p:spPr>
          <a:xfrm>
            <a:off x="4759226" y="1678632"/>
            <a:ext cx="2580010" cy="219968"/>
          </a:xfrm>
          <a:prstGeom prst="rect">
            <a:avLst/>
          </a:prstGeom>
          <a:noFill/>
        </p:spPr>
        <p:txBody>
          <a:bodyPr wrap="none" lIns="0" tIns="0" rIns="0" bIns="0" anchor="t"/>
          <a:lstStyle/>
          <a:p>
            <a:pPr marL="0" indent="0" algn="l">
              <a:lnSpc>
                <a:spcPct val="104000"/>
              </a:lnSpc>
              <a:buNone/>
            </a:pPr>
            <a:r>
              <a:rPr sz="1350">
                <a:solidFill>
                  <a:srgbClr val="FFFFFF"/>
                </a:solidFill>
                <a:latin typeface="Nunito SemiBold"/>
                <a:ea typeface="Nunito SemiBold"/>
                <a:cs typeface="Nunito SemiBold"/>
              </a:rPr>
              <a:t>XGBoost — Default Model</a:t>
            </a:r>
          </a:p>
        </p:txBody>
      </p:sp>
      <p:sp>
        <p:nvSpPr>
          <p:cNvPr id="7" name="Text 4">
            <a:extLst>
              <a:ext uri="{FF2B5EF4-FFF2-40B4-BE49-F238E27FC236}">
                <a16:creationId xmlns:a16="http://schemas.microsoft.com/office/drawing/2014/main" id="{14CBC5D2-1908-4106-A50A-C2FFE9ABD34B}"/>
              </a:ext>
            </a:extLst>
          </p:cNvPr>
          <p:cNvSpPr>
            <a:spLocks noGrp="1"/>
          </p:cNvSpPr>
          <p:nvPr/>
        </p:nvSpPr>
        <p:spPr>
          <a:xfrm>
            <a:off x="4759226" y="2048173"/>
            <a:ext cx="3865959" cy="718170"/>
          </a:xfrm>
          <a:prstGeom prst="rect">
            <a:avLst/>
          </a:prstGeom>
          <a:noFill/>
        </p:spPr>
        <p:txBody>
          <a:bodyPr wrap="square" lIns="0" tIns="0" rIns="0" bIns="0" anchor="t">
            <a:normAutofit/>
          </a:bodyPr>
          <a:lstStyle/>
          <a:p>
            <a:pPr marL="0" indent="0" algn="l">
              <a:lnSpc>
                <a:spcPct val="133000"/>
              </a:lnSpc>
              <a:buNone/>
            </a:pPr>
            <a:r>
              <a:rPr sz="1150">
                <a:solidFill>
                  <a:srgbClr val="FFFFFF"/>
                </a:solidFill>
                <a:latin typeface="PT Sans"/>
                <a:ea typeface="PT Sans"/>
                <a:cs typeface="PT Sans"/>
              </a:rPr>
              <a:t>Recursive multi-step forecast from lag features plus month and week-of-year. Recent lags explain more of the short-term signal than a univariate seasonal structure alone.</a:t>
            </a:r>
          </a:p>
        </p:txBody>
      </p:sp>
      <p:sp>
        <p:nvSpPr>
          <p:cNvPr id="8" name="Text 5">
            <a:extLst>
              <a:ext uri="{FF2B5EF4-FFF2-40B4-BE49-F238E27FC236}">
                <a16:creationId xmlns:a16="http://schemas.microsoft.com/office/drawing/2014/main" id="{320D6F7A-36B2-4E33-ADA4-72AF2BA878DF}"/>
              </a:ext>
            </a:extLst>
          </p:cNvPr>
          <p:cNvSpPr>
            <a:spLocks noGrp="1"/>
          </p:cNvSpPr>
          <p:nvPr/>
        </p:nvSpPr>
        <p:spPr>
          <a:xfrm>
            <a:off x="4759226" y="2915915"/>
            <a:ext cx="2217316" cy="219968"/>
          </a:xfrm>
          <a:prstGeom prst="rect">
            <a:avLst/>
          </a:prstGeom>
          <a:noFill/>
        </p:spPr>
        <p:txBody>
          <a:bodyPr wrap="none" lIns="0" tIns="0" rIns="0" bIns="0" anchor="t"/>
          <a:lstStyle/>
          <a:p>
            <a:pPr marL="0" indent="0" algn="l">
              <a:lnSpc>
                <a:spcPct val="104000"/>
              </a:lnSpc>
              <a:buNone/>
            </a:pPr>
            <a:r>
              <a:rPr sz="1350">
                <a:solidFill>
                  <a:srgbClr val="FFFFFF"/>
                </a:solidFill>
                <a:latin typeface="Nunito SemiBold"/>
                <a:ea typeface="Nunito SemiBold"/>
                <a:cs typeface="Nunito SemiBold"/>
              </a:rPr>
              <a:t>SARIMA — Baseline</a:t>
            </a:r>
          </a:p>
        </p:txBody>
      </p:sp>
      <p:sp>
        <p:nvSpPr>
          <p:cNvPr id="9" name="Text 6">
            <a:extLst>
              <a:ext uri="{FF2B5EF4-FFF2-40B4-BE49-F238E27FC236}">
                <a16:creationId xmlns:a16="http://schemas.microsoft.com/office/drawing/2014/main" id="{13D6CDA9-078B-4D82-BEAF-1661A5661BF6}"/>
              </a:ext>
            </a:extLst>
          </p:cNvPr>
          <p:cNvSpPr>
            <a:spLocks noGrp="1"/>
          </p:cNvSpPr>
          <p:nvPr/>
        </p:nvSpPr>
        <p:spPr>
          <a:xfrm>
            <a:off x="4759226" y="3285455"/>
            <a:ext cx="3865959" cy="718170"/>
          </a:xfrm>
          <a:prstGeom prst="rect">
            <a:avLst/>
          </a:prstGeom>
          <a:noFill/>
        </p:spPr>
        <p:txBody>
          <a:bodyPr wrap="square" lIns="0" tIns="0" rIns="0" bIns="0" anchor="t">
            <a:normAutofit/>
          </a:bodyPr>
          <a:lstStyle/>
          <a:p>
            <a:pPr marL="0" indent="0" algn="l">
              <a:lnSpc>
                <a:spcPct val="133000"/>
              </a:lnSpc>
              <a:buNone/>
            </a:pPr>
            <a:r>
              <a:rPr sz="1150">
                <a:solidFill>
                  <a:srgbClr val="FFFFFF"/>
                </a:solidFill>
                <a:latin typeface="PT Sans"/>
                <a:ea typeface="PT Sans"/>
                <a:cs typeface="PT Sans"/>
              </a:rPr>
              <a:t>Seasonal weekly time-series baseline: SARIMA(1,1,1)(1,1,1,52). Both models are available in the app, but XGBoost's lower holdout error makes it the default.</a:t>
            </a:r>
          </a:p>
        </p:txBody>
      </p:sp>
    </p:spTree>
    <p:extLst>
      <p:ext uri="{BB962C8B-B14F-4D97-AF65-F5344CB8AC3E}">
        <p14:creationId xmlns:p14="http://schemas.microsoft.com/office/powerpoint/2010/main" val="82357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099F9AA-1E1F-46B4-A072-E5710A22E63C}"/>
              </a:ext>
            </a:extLst>
          </p:cNvPr>
          <p:cNvSpPr>
            <a:spLocks noGrp="1"/>
          </p:cNvSpPr>
          <p:nvPr/>
        </p:nvSpPr>
        <p:spPr>
          <a:xfrm>
            <a:off x="482724" y="379288"/>
            <a:ext cx="593006" cy="155004"/>
          </a:xfrm>
          <a:prstGeom prst="roundRect">
            <a:avLst>
              <a:gd name="adj" fmla="val 69406"/>
            </a:avLst>
          </a:prstGeom>
          <a:noFill/>
          <a:ln w="4763">
            <a:solidFill>
              <a:srgbClr val="F2B42D"/>
            </a:solidFill>
            <a:prstDash val="solid"/>
          </a:ln>
        </p:spPr>
        <p:txBody>
          <a:bodyPr/>
          <a:lstStyle/>
          <a:p>
            <a:endParaRPr/>
          </a:p>
        </p:txBody>
      </p:sp>
      <p:sp>
        <p:nvSpPr>
          <p:cNvPr id="3" name="Text 1">
            <a:extLst>
              <a:ext uri="{FF2B5EF4-FFF2-40B4-BE49-F238E27FC236}">
                <a16:creationId xmlns:a16="http://schemas.microsoft.com/office/drawing/2014/main" id="{B67EDFE3-AAD3-4ED0-ABFB-56A81BE007AC}"/>
              </a:ext>
            </a:extLst>
          </p:cNvPr>
          <p:cNvSpPr>
            <a:spLocks noGrp="1"/>
          </p:cNvSpPr>
          <p:nvPr/>
        </p:nvSpPr>
        <p:spPr>
          <a:xfrm>
            <a:off x="541213" y="410914"/>
            <a:ext cx="933227" cy="91753"/>
          </a:xfrm>
          <a:prstGeom prst="rect">
            <a:avLst/>
          </a:prstGeom>
          <a:noFill/>
        </p:spPr>
        <p:txBody>
          <a:bodyPr wrap="none" lIns="0" tIns="0" rIns="0" bIns="0" anchor="t"/>
          <a:lstStyle/>
          <a:p>
            <a:pPr marL="0" indent="0" algn="l">
              <a:lnSpc>
                <a:spcPct val="107000"/>
              </a:lnSpc>
              <a:buNone/>
            </a:pPr>
            <a:r>
              <a:rPr sz="550">
                <a:solidFill>
                  <a:srgbClr val="F2B42D"/>
                </a:solidFill>
                <a:latin typeface="PT Sans"/>
                <a:ea typeface="PT Sans"/>
                <a:cs typeface="PT Sans"/>
              </a:rPr>
              <a:t>ARCHITECTURE</a:t>
            </a:r>
          </a:p>
        </p:txBody>
      </p:sp>
      <p:sp>
        <p:nvSpPr>
          <p:cNvPr id="4" name="Text 2">
            <a:extLst>
              <a:ext uri="{FF2B5EF4-FFF2-40B4-BE49-F238E27FC236}">
                <a16:creationId xmlns:a16="http://schemas.microsoft.com/office/drawing/2014/main" id="{96684B95-3793-4076-B6F2-856966B66D15}"/>
              </a:ext>
            </a:extLst>
          </p:cNvPr>
          <p:cNvSpPr>
            <a:spLocks noGrp="1"/>
          </p:cNvSpPr>
          <p:nvPr/>
        </p:nvSpPr>
        <p:spPr>
          <a:xfrm>
            <a:off x="482724" y="555724"/>
            <a:ext cx="7257604" cy="263649"/>
          </a:xfrm>
          <a:prstGeom prst="rect">
            <a:avLst/>
          </a:prstGeom>
          <a:noFill/>
        </p:spPr>
        <p:txBody>
          <a:bodyPr wrap="none" lIns="0" tIns="0" rIns="0" bIns="0" anchor="t"/>
          <a:lstStyle/>
          <a:p>
            <a:pPr marL="0" indent="0" algn="l">
              <a:lnSpc>
                <a:spcPct val="104000"/>
              </a:lnSpc>
              <a:buNone/>
            </a:pPr>
            <a:r>
              <a:rPr sz="1650">
                <a:solidFill>
                  <a:srgbClr val="FFFFFF"/>
                </a:solidFill>
                <a:latin typeface="Nunito SemiBold"/>
                <a:ea typeface="Nunito SemiBold"/>
                <a:cs typeface="Nunito SemiBold"/>
              </a:rPr>
              <a:t>The App and Model API Are Deployed as Separate Cloud Run Services</a:t>
            </a:r>
          </a:p>
        </p:txBody>
      </p:sp>
      <p:pic>
        <p:nvPicPr>
          <p:cNvPr id="5" name="Image 0"/>
          <p:cNvPicPr>
            <a:picLocks noChangeAspect="1"/>
          </p:cNvPicPr>
          <p:nvPr/>
        </p:nvPicPr>
        <p:blipFill>
          <a:blip r:embed="rId3"/>
          <a:stretch>
            <a:fillRect/>
          </a:stretch>
        </p:blipFill>
        <p:spPr>
          <a:xfrm>
            <a:off x="1935882" y="899889"/>
            <a:ext cx="5272236" cy="2273498"/>
          </a:xfrm>
          <a:prstGeom prst="rect">
            <a:avLst/>
          </a:prstGeom>
        </p:spPr>
      </p:pic>
      <p:sp>
        <p:nvSpPr>
          <p:cNvPr id="6" name="Text 3">
            <a:extLst>
              <a:ext uri="{FF2B5EF4-FFF2-40B4-BE49-F238E27FC236}">
                <a16:creationId xmlns:a16="http://schemas.microsoft.com/office/drawing/2014/main" id="{E5AD0A51-0282-4B71-8EA2-D9B82DAF0315}"/>
              </a:ext>
            </a:extLst>
          </p:cNvPr>
          <p:cNvSpPr>
            <a:spLocks noGrp="1"/>
          </p:cNvSpPr>
          <p:nvPr/>
        </p:nvSpPr>
        <p:spPr>
          <a:xfrm>
            <a:off x="2290660" y="2746649"/>
            <a:ext cx="1582851" cy="140623"/>
          </a:xfrm>
          <a:prstGeom prst="rect">
            <a:avLst/>
          </a:prstGeom>
          <a:noFill/>
        </p:spPr>
        <p:txBody>
          <a:bodyPr wrap="none" lIns="0" tIns="0" rIns="0" bIns="0" anchor="t"/>
          <a:lstStyle/>
          <a:p>
            <a:pPr marL="0" indent="0" algn="l">
              <a:lnSpc>
                <a:spcPct val="104000"/>
              </a:lnSpc>
              <a:buNone/>
            </a:pPr>
            <a:r>
              <a:rPr sz="850">
                <a:solidFill>
                  <a:srgbClr val="000000"/>
                </a:solidFill>
                <a:latin typeface="Nunito SemiBold"/>
                <a:ea typeface="Nunito SemiBold"/>
                <a:cs typeface="Nunito SemiBold"/>
              </a:rPr>
              <a:t>Cloud Run Services</a:t>
            </a:r>
          </a:p>
        </p:txBody>
      </p:sp>
      <p:sp>
        <p:nvSpPr>
          <p:cNvPr id="7" name="Text 4">
            <a:extLst>
              <a:ext uri="{FF2B5EF4-FFF2-40B4-BE49-F238E27FC236}">
                <a16:creationId xmlns:a16="http://schemas.microsoft.com/office/drawing/2014/main" id="{2253F777-CF66-430A-B29B-86EB167DC697}"/>
              </a:ext>
            </a:extLst>
          </p:cNvPr>
          <p:cNvSpPr>
            <a:spLocks noGrp="1"/>
          </p:cNvSpPr>
          <p:nvPr/>
        </p:nvSpPr>
        <p:spPr>
          <a:xfrm>
            <a:off x="2290660" y="2220371"/>
            <a:ext cx="1582851" cy="140623"/>
          </a:xfrm>
          <a:prstGeom prst="rect">
            <a:avLst/>
          </a:prstGeom>
          <a:noFill/>
        </p:spPr>
        <p:txBody>
          <a:bodyPr wrap="none" lIns="0" tIns="0" rIns="0" bIns="0" anchor="t"/>
          <a:lstStyle/>
          <a:p>
            <a:pPr marL="0" indent="0" algn="l">
              <a:lnSpc>
                <a:spcPct val="104000"/>
              </a:lnSpc>
              <a:buNone/>
            </a:pPr>
            <a:r>
              <a:rPr sz="850">
                <a:solidFill>
                  <a:srgbClr val="000000"/>
                </a:solidFill>
                <a:latin typeface="Nunito SemiBold"/>
                <a:ea typeface="Nunito SemiBold"/>
                <a:cs typeface="Nunito SemiBold"/>
              </a:rPr>
              <a:t>Model Files</a:t>
            </a:r>
          </a:p>
        </p:txBody>
      </p:sp>
      <p:sp>
        <p:nvSpPr>
          <p:cNvPr id="8" name="Text 5">
            <a:extLst>
              <a:ext uri="{FF2B5EF4-FFF2-40B4-BE49-F238E27FC236}">
                <a16:creationId xmlns:a16="http://schemas.microsoft.com/office/drawing/2014/main" id="{9F6A3FDB-00D2-43D6-BBF1-B76E33581ED6}"/>
              </a:ext>
            </a:extLst>
          </p:cNvPr>
          <p:cNvSpPr>
            <a:spLocks noGrp="1"/>
          </p:cNvSpPr>
          <p:nvPr/>
        </p:nvSpPr>
        <p:spPr>
          <a:xfrm>
            <a:off x="2290660" y="1699409"/>
            <a:ext cx="1582851" cy="140623"/>
          </a:xfrm>
          <a:prstGeom prst="rect">
            <a:avLst/>
          </a:prstGeom>
          <a:noFill/>
        </p:spPr>
        <p:txBody>
          <a:bodyPr wrap="none" lIns="0" tIns="0" rIns="0" bIns="0" anchor="t"/>
          <a:lstStyle/>
          <a:p>
            <a:pPr marL="0" indent="0" algn="l">
              <a:lnSpc>
                <a:spcPct val="104000"/>
              </a:lnSpc>
              <a:buNone/>
            </a:pPr>
            <a:r>
              <a:rPr sz="850">
                <a:solidFill>
                  <a:srgbClr val="000000"/>
                </a:solidFill>
                <a:latin typeface="Nunito SemiBold"/>
                <a:ea typeface="Nunito SemiBold"/>
                <a:cs typeface="Nunito SemiBold"/>
              </a:rPr>
              <a:t>Raw CSV</a:t>
            </a:r>
          </a:p>
        </p:txBody>
      </p:sp>
      <p:sp>
        <p:nvSpPr>
          <p:cNvPr id="9" name="Text 6">
            <a:extLst>
              <a:ext uri="{FF2B5EF4-FFF2-40B4-BE49-F238E27FC236}">
                <a16:creationId xmlns:a16="http://schemas.microsoft.com/office/drawing/2014/main" id="{2563B224-C21C-4F91-A042-A60C0455F413}"/>
              </a:ext>
            </a:extLst>
          </p:cNvPr>
          <p:cNvSpPr>
            <a:spLocks noGrp="1"/>
          </p:cNvSpPr>
          <p:nvPr/>
        </p:nvSpPr>
        <p:spPr>
          <a:xfrm>
            <a:off x="2290660" y="1173131"/>
            <a:ext cx="1582851" cy="140623"/>
          </a:xfrm>
          <a:prstGeom prst="rect">
            <a:avLst/>
          </a:prstGeom>
          <a:noFill/>
        </p:spPr>
        <p:txBody>
          <a:bodyPr wrap="none" lIns="0" tIns="0" rIns="0" bIns="0" anchor="t"/>
          <a:lstStyle/>
          <a:p>
            <a:pPr marL="0" indent="0" algn="l">
              <a:lnSpc>
                <a:spcPct val="104000"/>
              </a:lnSpc>
              <a:buNone/>
            </a:pPr>
            <a:r>
              <a:rPr sz="850">
                <a:solidFill>
                  <a:srgbClr val="000000"/>
                </a:solidFill>
                <a:latin typeface="Nunito SemiBold"/>
                <a:ea typeface="Nunito SemiBold"/>
                <a:cs typeface="Nunito SemiBold"/>
              </a:rPr>
              <a:t>EIA API</a:t>
            </a:r>
          </a:p>
        </p:txBody>
      </p:sp>
      <p:sp>
        <p:nvSpPr>
          <p:cNvPr id="10" name="Text 7">
            <a:extLst>
              <a:ext uri="{FF2B5EF4-FFF2-40B4-BE49-F238E27FC236}">
                <a16:creationId xmlns:a16="http://schemas.microsoft.com/office/drawing/2014/main" id="{0CA84A72-E25E-4EEB-AA30-15074B2CC509}"/>
              </a:ext>
            </a:extLst>
          </p:cNvPr>
          <p:cNvSpPr>
            <a:spLocks noGrp="1"/>
          </p:cNvSpPr>
          <p:nvPr/>
        </p:nvSpPr>
        <p:spPr>
          <a:xfrm>
            <a:off x="482724" y="3233812"/>
            <a:ext cx="8635752" cy="114672"/>
          </a:xfrm>
          <a:prstGeom prst="rect">
            <a:avLst/>
          </a:prstGeom>
          <a:noFill/>
        </p:spPr>
        <p:txBody>
          <a:bodyPr wrap="none" lIns="0" tIns="0" rIns="0" bIns="0" anchor="t"/>
          <a:lstStyle/>
          <a:p>
            <a:pPr marL="0" indent="0" algn="l">
              <a:lnSpc>
                <a:spcPct val="107000"/>
              </a:lnSpc>
              <a:buNone/>
            </a:pPr>
            <a:r>
              <a:rPr sz="700">
                <a:solidFill>
                  <a:srgbClr val="FFFFFF"/>
                </a:solidFill>
                <a:latin typeface="PT Sans"/>
                <a:ea typeface="PT Sans"/>
                <a:cs typeface="PT Sans"/>
              </a:rPr>
              <a:t>EIA data flows through a raw CSV snapshot into trained model artifacts, served by a Flask API and consumed by a separate Streamlit UI — both running on Cloud Run.</a:t>
            </a:r>
          </a:p>
        </p:txBody>
      </p:sp>
      <p:sp>
        <p:nvSpPr>
          <p:cNvPr id="11" name="Text 8">
            <a:extLst>
              <a:ext uri="{FF2B5EF4-FFF2-40B4-BE49-F238E27FC236}">
                <a16:creationId xmlns:a16="http://schemas.microsoft.com/office/drawing/2014/main" id="{1B46970A-3483-4DE3-A95A-14044F330BAD}"/>
              </a:ext>
            </a:extLst>
          </p:cNvPr>
          <p:cNvSpPr>
            <a:spLocks noGrp="1"/>
          </p:cNvSpPr>
          <p:nvPr/>
        </p:nvSpPr>
        <p:spPr>
          <a:xfrm>
            <a:off x="482724" y="3462561"/>
            <a:ext cx="1626245" cy="131787"/>
          </a:xfrm>
          <a:prstGeom prst="rect">
            <a:avLst/>
          </a:prstGeom>
          <a:noFill/>
        </p:spPr>
        <p:txBody>
          <a:bodyPr wrap="none" lIns="0" tIns="0" rIns="0" bIns="0" anchor="t"/>
          <a:lstStyle/>
          <a:p>
            <a:pPr marL="0" indent="0" algn="l">
              <a:lnSpc>
                <a:spcPct val="104000"/>
              </a:lnSpc>
              <a:buNone/>
            </a:pPr>
            <a:r>
              <a:rPr sz="800">
                <a:solidFill>
                  <a:srgbClr val="FFFFFF"/>
                </a:solidFill>
                <a:latin typeface="Nunito SemiBold"/>
                <a:ea typeface="Nunito SemiBold"/>
                <a:cs typeface="Nunito SemiBold"/>
              </a:rPr>
              <a:t>Why Separate Services?</a:t>
            </a:r>
          </a:p>
        </p:txBody>
      </p:sp>
      <p:sp>
        <p:nvSpPr>
          <p:cNvPr id="12" name="Text 9">
            <a:extLst>
              <a:ext uri="{FF2B5EF4-FFF2-40B4-BE49-F238E27FC236}">
                <a16:creationId xmlns:a16="http://schemas.microsoft.com/office/drawing/2014/main" id="{F1E35EFB-681A-4D29-9D43-002F0436D5A1}"/>
              </a:ext>
            </a:extLst>
          </p:cNvPr>
          <p:cNvSpPr>
            <a:spLocks noGrp="1"/>
          </p:cNvSpPr>
          <p:nvPr/>
        </p:nvSpPr>
        <p:spPr>
          <a:xfrm>
            <a:off x="482727" y="3647980"/>
            <a:ext cx="3981450" cy="609600"/>
          </a:xfrm>
          <a:prstGeom prst="rect">
            <a:avLst/>
          </a:prstGeom>
          <a:noFill/>
        </p:spPr>
        <p:txBody>
          <a:bodyPr wrap="square" lIns="0" tIns="0" rIns="0" bIns="0" anchor="t">
            <a:normAutofit/>
          </a:bodyPr>
          <a:lstStyle/>
          <a:p>
            <a:pPr marL="342900" indent="-342900" algn="l">
              <a:lnSpc>
                <a:spcPct val="107000"/>
              </a:lnSpc>
              <a:buChar char="•"/>
            </a:pPr>
            <a:r>
              <a:rPr sz="863">
                <a:solidFill>
                  <a:srgbClr val="F9FAFB"/>
                </a:solidFill>
                <a:latin typeface="PT Sans"/>
                <a:ea typeface="PT Sans"/>
                <a:cs typeface="PT Sans"/>
              </a:rPr>
              <a:t>UI and API deploy independently</a:t>
            </a:r>
          </a:p>
          <a:p>
            <a:pPr marL="342900" indent="-342900" algn="l">
              <a:lnSpc>
                <a:spcPct val="107000"/>
              </a:lnSpc>
              <a:buChar char="•"/>
            </a:pPr>
            <a:r>
              <a:rPr sz="863">
                <a:solidFill>
                  <a:srgbClr val="F9FAFB"/>
                </a:solidFill>
                <a:latin typeface="PT Sans"/>
                <a:ea typeface="PT Sans"/>
                <a:cs typeface="PT Sans"/>
              </a:rPr>
              <a:t>API testable with curl/Postman</a:t>
            </a:r>
          </a:p>
          <a:p>
            <a:pPr marL="342900" indent="-342900" algn="l">
              <a:lnSpc>
                <a:spcPct val="107000"/>
              </a:lnSpc>
              <a:buChar char="•"/>
            </a:pPr>
            <a:r>
              <a:rPr sz="863">
                <a:solidFill>
                  <a:srgbClr val="F9FAFB"/>
                </a:solidFill>
                <a:latin typeface="PT Sans"/>
                <a:ea typeface="PT Sans"/>
                <a:cs typeface="PT Sans"/>
              </a:rPr>
              <a:t>Artifact Registry stores images</a:t>
            </a:r>
          </a:p>
          <a:p>
            <a:pPr marL="342900" indent="-342900" algn="l">
              <a:lnSpc>
                <a:spcPct val="107000"/>
              </a:lnSpc>
              <a:buChar char="•"/>
            </a:pPr>
            <a:r>
              <a:rPr sz="863">
                <a:solidFill>
                  <a:srgbClr val="F9FAFB"/>
                </a:solidFill>
                <a:latin typeface="PT Sans"/>
                <a:ea typeface="PT Sans"/>
                <a:cs typeface="PT Sans"/>
              </a:rPr>
              <a:t>API memory: 1 Gi for SARIMA</a:t>
            </a:r>
          </a:p>
        </p:txBody>
      </p:sp>
      <p:sp>
        <p:nvSpPr>
          <p:cNvPr id="13" name="Text 10">
            <a:extLst>
              <a:ext uri="{FF2B5EF4-FFF2-40B4-BE49-F238E27FC236}">
                <a16:creationId xmlns:a16="http://schemas.microsoft.com/office/drawing/2014/main" id="{63C97FF3-94A0-45F6-BE48-E22D7404A5DC}"/>
              </a:ext>
            </a:extLst>
          </p:cNvPr>
          <p:cNvSpPr>
            <a:spLocks noGrp="1"/>
          </p:cNvSpPr>
          <p:nvPr/>
        </p:nvSpPr>
        <p:spPr>
          <a:xfrm>
            <a:off x="4686077" y="3462561"/>
            <a:ext cx="1511871" cy="131787"/>
          </a:xfrm>
          <a:prstGeom prst="rect">
            <a:avLst/>
          </a:prstGeom>
          <a:noFill/>
        </p:spPr>
        <p:txBody>
          <a:bodyPr wrap="none" lIns="0" tIns="0" rIns="0" bIns="0" anchor="t"/>
          <a:lstStyle/>
          <a:p>
            <a:pPr marL="0" indent="0" algn="l">
              <a:lnSpc>
                <a:spcPct val="104000"/>
              </a:lnSpc>
              <a:buNone/>
            </a:pPr>
            <a:r>
              <a:rPr sz="800">
                <a:solidFill>
                  <a:srgbClr val="FFFFFF"/>
                </a:solidFill>
                <a:latin typeface="Nunito SemiBold"/>
                <a:ea typeface="Nunito SemiBold"/>
                <a:cs typeface="Nunito SemiBold"/>
              </a:rPr>
              <a:t>Endpoints</a:t>
            </a:r>
          </a:p>
        </p:txBody>
      </p:sp>
      <p:sp>
        <p:nvSpPr>
          <p:cNvPr id="14" name="Shape 11">
            <a:extLst>
              <a:ext uri="{FF2B5EF4-FFF2-40B4-BE49-F238E27FC236}">
                <a16:creationId xmlns:a16="http://schemas.microsoft.com/office/drawing/2014/main" id="{DFAD3976-CB88-4FD1-BC47-732BB453CA2B}"/>
              </a:ext>
            </a:extLst>
          </p:cNvPr>
          <p:cNvSpPr>
            <a:spLocks noGrp="1"/>
          </p:cNvSpPr>
          <p:nvPr/>
        </p:nvSpPr>
        <p:spPr>
          <a:xfrm>
            <a:off x="4686077" y="3654772"/>
            <a:ext cx="1963117" cy="498351"/>
          </a:xfrm>
          <a:prstGeom prst="roundRect">
            <a:avLst>
              <a:gd name="adj" fmla="val 26984"/>
            </a:avLst>
          </a:prstGeom>
          <a:solidFill>
            <a:srgbClr val="00002E"/>
          </a:solidFill>
          <a:ln w="9525">
            <a:solidFill>
              <a:srgbClr val="F2B42D"/>
            </a:solidFill>
            <a:prstDash val="solid"/>
          </a:ln>
        </p:spPr>
        <p:txBody>
          <a:bodyPr/>
          <a:lstStyle/>
          <a:p>
            <a:endParaRPr/>
          </a:p>
        </p:txBody>
      </p:sp>
      <p:sp>
        <p:nvSpPr>
          <p:cNvPr id="15" name="Text 12">
            <a:extLst>
              <a:ext uri="{FF2B5EF4-FFF2-40B4-BE49-F238E27FC236}">
                <a16:creationId xmlns:a16="http://schemas.microsoft.com/office/drawing/2014/main" id="{664DC625-CDA8-419B-880F-3BA6F18228DC}"/>
              </a:ext>
            </a:extLst>
          </p:cNvPr>
          <p:cNvSpPr>
            <a:spLocks noGrp="1"/>
          </p:cNvSpPr>
          <p:nvPr/>
        </p:nvSpPr>
        <p:spPr>
          <a:xfrm>
            <a:off x="4785196" y="3753892"/>
            <a:ext cx="1054671" cy="131787"/>
          </a:xfrm>
          <a:prstGeom prst="rect">
            <a:avLst/>
          </a:prstGeom>
          <a:noFill/>
        </p:spPr>
        <p:txBody>
          <a:bodyPr wrap="none" lIns="0" tIns="0" rIns="0" bIns="0" anchor="t"/>
          <a:lstStyle/>
          <a:p>
            <a:pPr marL="0" indent="0" algn="l">
              <a:lnSpc>
                <a:spcPct val="104000"/>
              </a:lnSpc>
              <a:buNone/>
            </a:pPr>
            <a:r>
              <a:rPr sz="800">
                <a:solidFill>
                  <a:srgbClr val="FFFFFF"/>
                </a:solidFill>
                <a:latin typeface="Nunito SemiBold"/>
                <a:ea typeface="Nunito SemiBold"/>
                <a:cs typeface="Nunito SemiBold"/>
              </a:rPr>
              <a:t>/health</a:t>
            </a:r>
          </a:p>
        </p:txBody>
      </p:sp>
      <p:sp>
        <p:nvSpPr>
          <p:cNvPr id="16" name="Text 13">
            <a:extLst>
              <a:ext uri="{FF2B5EF4-FFF2-40B4-BE49-F238E27FC236}">
                <a16:creationId xmlns:a16="http://schemas.microsoft.com/office/drawing/2014/main" id="{33C2CDF6-BBC7-4F0E-81F4-D5F819F4B338}"/>
              </a:ext>
            </a:extLst>
          </p:cNvPr>
          <p:cNvSpPr>
            <a:spLocks noGrp="1"/>
          </p:cNvSpPr>
          <p:nvPr/>
        </p:nvSpPr>
        <p:spPr>
          <a:xfrm>
            <a:off x="4785196" y="3939332"/>
            <a:ext cx="1764878" cy="114672"/>
          </a:xfrm>
          <a:prstGeom prst="rect">
            <a:avLst/>
          </a:prstGeom>
          <a:noFill/>
        </p:spPr>
        <p:txBody>
          <a:bodyPr wrap="none" lIns="0" tIns="0" rIns="0" bIns="0" anchor="t"/>
          <a:lstStyle/>
          <a:p>
            <a:pPr marL="0" indent="0" algn="l">
              <a:lnSpc>
                <a:spcPct val="107000"/>
              </a:lnSpc>
              <a:buNone/>
            </a:pPr>
            <a:r>
              <a:rPr sz="700">
                <a:solidFill>
                  <a:srgbClr val="FFFFFF"/>
                </a:solidFill>
                <a:latin typeface="PT Sans"/>
                <a:ea typeface="PT Sans"/>
                <a:cs typeface="PT Sans"/>
              </a:rPr>
              <a:t>Liveness check</a:t>
            </a:r>
          </a:p>
        </p:txBody>
      </p:sp>
      <p:sp>
        <p:nvSpPr>
          <p:cNvPr id="17" name="Shape 14">
            <a:extLst>
              <a:ext uri="{FF2B5EF4-FFF2-40B4-BE49-F238E27FC236}">
                <a16:creationId xmlns:a16="http://schemas.microsoft.com/office/drawing/2014/main" id="{F77B8F2D-912F-4F07-8A0D-6AF7AAAAC196}"/>
              </a:ext>
            </a:extLst>
          </p:cNvPr>
          <p:cNvSpPr>
            <a:spLocks noGrp="1"/>
          </p:cNvSpPr>
          <p:nvPr/>
        </p:nvSpPr>
        <p:spPr>
          <a:xfrm>
            <a:off x="6702847" y="3654772"/>
            <a:ext cx="1963192" cy="498351"/>
          </a:xfrm>
          <a:prstGeom prst="roundRect">
            <a:avLst>
              <a:gd name="adj" fmla="val 26984"/>
            </a:avLst>
          </a:prstGeom>
          <a:solidFill>
            <a:srgbClr val="00002E"/>
          </a:solidFill>
          <a:ln w="9525">
            <a:solidFill>
              <a:srgbClr val="D7425E"/>
            </a:solidFill>
            <a:prstDash val="solid"/>
          </a:ln>
        </p:spPr>
        <p:txBody>
          <a:bodyPr/>
          <a:lstStyle/>
          <a:p>
            <a:endParaRPr/>
          </a:p>
        </p:txBody>
      </p:sp>
      <p:sp>
        <p:nvSpPr>
          <p:cNvPr id="18" name="Text 15">
            <a:extLst>
              <a:ext uri="{FF2B5EF4-FFF2-40B4-BE49-F238E27FC236}">
                <a16:creationId xmlns:a16="http://schemas.microsoft.com/office/drawing/2014/main" id="{20992D9A-E057-42D4-8914-67FF5B680E1F}"/>
              </a:ext>
            </a:extLst>
          </p:cNvPr>
          <p:cNvSpPr>
            <a:spLocks noGrp="1"/>
          </p:cNvSpPr>
          <p:nvPr/>
        </p:nvSpPr>
        <p:spPr>
          <a:xfrm>
            <a:off x="6801966" y="3753892"/>
            <a:ext cx="1054671" cy="131787"/>
          </a:xfrm>
          <a:prstGeom prst="rect">
            <a:avLst/>
          </a:prstGeom>
          <a:noFill/>
        </p:spPr>
        <p:txBody>
          <a:bodyPr wrap="none" lIns="0" tIns="0" rIns="0" bIns="0" anchor="t"/>
          <a:lstStyle/>
          <a:p>
            <a:pPr marL="0" indent="0" algn="l">
              <a:lnSpc>
                <a:spcPct val="104000"/>
              </a:lnSpc>
              <a:buNone/>
            </a:pPr>
            <a:r>
              <a:rPr sz="800">
                <a:solidFill>
                  <a:srgbClr val="FFFFFF"/>
                </a:solidFill>
                <a:latin typeface="Nunito SemiBold"/>
                <a:ea typeface="Nunito SemiBold"/>
                <a:cs typeface="Nunito SemiBold"/>
              </a:rPr>
              <a:t>/metadata</a:t>
            </a:r>
          </a:p>
        </p:txBody>
      </p:sp>
      <p:sp>
        <p:nvSpPr>
          <p:cNvPr id="19" name="Text 16">
            <a:extLst>
              <a:ext uri="{FF2B5EF4-FFF2-40B4-BE49-F238E27FC236}">
                <a16:creationId xmlns:a16="http://schemas.microsoft.com/office/drawing/2014/main" id="{38129D8E-91C7-48C8-A345-60F6D9ED5C21}"/>
              </a:ext>
            </a:extLst>
          </p:cNvPr>
          <p:cNvSpPr>
            <a:spLocks noGrp="1"/>
          </p:cNvSpPr>
          <p:nvPr/>
        </p:nvSpPr>
        <p:spPr>
          <a:xfrm>
            <a:off x="6801966" y="3939332"/>
            <a:ext cx="1764953" cy="114672"/>
          </a:xfrm>
          <a:prstGeom prst="rect">
            <a:avLst/>
          </a:prstGeom>
          <a:noFill/>
        </p:spPr>
        <p:txBody>
          <a:bodyPr wrap="none" lIns="0" tIns="0" rIns="0" bIns="0" anchor="t"/>
          <a:lstStyle/>
          <a:p>
            <a:pPr marL="0" indent="0" algn="l">
              <a:lnSpc>
                <a:spcPct val="107000"/>
              </a:lnSpc>
              <a:buNone/>
            </a:pPr>
            <a:r>
              <a:rPr sz="700">
                <a:solidFill>
                  <a:srgbClr val="FFFFFF"/>
                </a:solidFill>
                <a:latin typeface="PT Sans"/>
                <a:ea typeface="PT Sans"/>
                <a:cs typeface="PT Sans"/>
              </a:rPr>
              <a:t>Model info</a:t>
            </a:r>
          </a:p>
        </p:txBody>
      </p:sp>
      <p:sp>
        <p:nvSpPr>
          <p:cNvPr id="20" name="Shape 17">
            <a:extLst>
              <a:ext uri="{FF2B5EF4-FFF2-40B4-BE49-F238E27FC236}">
                <a16:creationId xmlns:a16="http://schemas.microsoft.com/office/drawing/2014/main" id="{AB2761A1-E6D5-4FA8-8CF8-69779C173769}"/>
              </a:ext>
            </a:extLst>
          </p:cNvPr>
          <p:cNvSpPr>
            <a:spLocks noGrp="1"/>
          </p:cNvSpPr>
          <p:nvPr/>
        </p:nvSpPr>
        <p:spPr>
          <a:xfrm>
            <a:off x="4686077" y="4206776"/>
            <a:ext cx="3979962" cy="498351"/>
          </a:xfrm>
          <a:prstGeom prst="roundRect">
            <a:avLst>
              <a:gd name="adj" fmla="val 26984"/>
            </a:avLst>
          </a:prstGeom>
          <a:solidFill>
            <a:srgbClr val="00002E"/>
          </a:solidFill>
          <a:ln w="9525">
            <a:solidFill>
              <a:srgbClr val="DD785E"/>
            </a:solidFill>
            <a:prstDash val="solid"/>
          </a:ln>
        </p:spPr>
        <p:txBody>
          <a:bodyPr/>
          <a:lstStyle/>
          <a:p>
            <a:endParaRPr/>
          </a:p>
        </p:txBody>
      </p:sp>
      <p:sp>
        <p:nvSpPr>
          <p:cNvPr id="21" name="Text 18">
            <a:extLst>
              <a:ext uri="{FF2B5EF4-FFF2-40B4-BE49-F238E27FC236}">
                <a16:creationId xmlns:a16="http://schemas.microsoft.com/office/drawing/2014/main" id="{4381D479-CFC3-4854-BAC0-4653101EB38E}"/>
              </a:ext>
            </a:extLst>
          </p:cNvPr>
          <p:cNvSpPr>
            <a:spLocks noGrp="1"/>
          </p:cNvSpPr>
          <p:nvPr/>
        </p:nvSpPr>
        <p:spPr>
          <a:xfrm>
            <a:off x="4785196" y="4305895"/>
            <a:ext cx="1054671" cy="131787"/>
          </a:xfrm>
          <a:prstGeom prst="rect">
            <a:avLst/>
          </a:prstGeom>
          <a:noFill/>
        </p:spPr>
        <p:txBody>
          <a:bodyPr wrap="none" lIns="0" tIns="0" rIns="0" bIns="0" anchor="t"/>
          <a:lstStyle/>
          <a:p>
            <a:pPr marL="0" indent="0" algn="l">
              <a:lnSpc>
                <a:spcPct val="104000"/>
              </a:lnSpc>
              <a:buNone/>
            </a:pPr>
            <a:r>
              <a:rPr sz="800">
                <a:solidFill>
                  <a:srgbClr val="FFFFFF"/>
                </a:solidFill>
                <a:latin typeface="Nunito SemiBold"/>
                <a:ea typeface="Nunito SemiBold"/>
                <a:cs typeface="Nunito SemiBold"/>
              </a:rPr>
              <a:t>/predict</a:t>
            </a:r>
          </a:p>
        </p:txBody>
      </p:sp>
      <p:sp>
        <p:nvSpPr>
          <p:cNvPr id="22" name="Text 19">
            <a:extLst>
              <a:ext uri="{FF2B5EF4-FFF2-40B4-BE49-F238E27FC236}">
                <a16:creationId xmlns:a16="http://schemas.microsoft.com/office/drawing/2014/main" id="{DCC7116B-50B8-4170-851D-CD1CB2C28CC7}"/>
              </a:ext>
            </a:extLst>
          </p:cNvPr>
          <p:cNvSpPr>
            <a:spLocks noGrp="1"/>
          </p:cNvSpPr>
          <p:nvPr/>
        </p:nvSpPr>
        <p:spPr>
          <a:xfrm>
            <a:off x="4785196" y="4491335"/>
            <a:ext cx="3781723" cy="114672"/>
          </a:xfrm>
          <a:prstGeom prst="rect">
            <a:avLst/>
          </a:prstGeom>
          <a:noFill/>
        </p:spPr>
        <p:txBody>
          <a:bodyPr wrap="none" lIns="0" tIns="0" rIns="0" bIns="0" anchor="t"/>
          <a:lstStyle/>
          <a:p>
            <a:pPr marL="0" indent="0" algn="l">
              <a:lnSpc>
                <a:spcPct val="107000"/>
              </a:lnSpc>
              <a:buNone/>
            </a:pPr>
            <a:r>
              <a:rPr sz="700">
                <a:solidFill>
                  <a:srgbClr val="FFFFFF"/>
                </a:solidFill>
                <a:latin typeface="PT Sans"/>
                <a:ea typeface="PT Sans"/>
                <a:cs typeface="PT Sans"/>
              </a:rPr>
              <a:t>Forecast JSON</a:t>
            </a:r>
          </a:p>
        </p:txBody>
      </p:sp>
    </p:spTree>
    <p:extLst>
      <p:ext uri="{BB962C8B-B14F-4D97-AF65-F5344CB8AC3E}">
        <p14:creationId xmlns:p14="http://schemas.microsoft.com/office/powerpoint/2010/main" val="1779298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A2338C8B-52B6-4EDE-B908-2CE829327E80}"/>
              </a:ext>
            </a:extLst>
          </p:cNvPr>
          <p:cNvSpPr>
            <a:spLocks noGrp="1"/>
          </p:cNvSpPr>
          <p:nvPr/>
        </p:nvSpPr>
        <p:spPr>
          <a:xfrm>
            <a:off x="3952577" y="555501"/>
            <a:ext cx="512415" cy="180008"/>
          </a:xfrm>
          <a:prstGeom prst="roundRect">
            <a:avLst>
              <a:gd name="adj" fmla="val 64829"/>
            </a:avLst>
          </a:prstGeom>
          <a:noFill/>
          <a:ln w="9525">
            <a:solidFill>
              <a:srgbClr val="F2B42D"/>
            </a:solidFill>
            <a:prstDash val="solid"/>
          </a:ln>
        </p:spPr>
        <p:txBody>
          <a:bodyPr/>
          <a:lstStyle/>
          <a:p>
            <a:endParaRPr/>
          </a:p>
        </p:txBody>
      </p:sp>
      <p:sp>
        <p:nvSpPr>
          <p:cNvPr id="4" name="Text 1">
            <a:extLst>
              <a:ext uri="{FF2B5EF4-FFF2-40B4-BE49-F238E27FC236}">
                <a16:creationId xmlns:a16="http://schemas.microsoft.com/office/drawing/2014/main" id="{D3ED3480-CFBF-4EB1-8C3A-72A97C200D33}"/>
              </a:ext>
            </a:extLst>
          </p:cNvPr>
          <p:cNvSpPr>
            <a:spLocks noGrp="1"/>
          </p:cNvSpPr>
          <p:nvPr/>
        </p:nvSpPr>
        <p:spPr>
          <a:xfrm>
            <a:off x="4020443" y="594196"/>
            <a:ext cx="833884" cy="102617"/>
          </a:xfrm>
          <a:prstGeom prst="rect">
            <a:avLst/>
          </a:prstGeom>
          <a:noFill/>
        </p:spPr>
        <p:txBody>
          <a:bodyPr wrap="none" lIns="0" tIns="0" rIns="0" bIns="0" anchor="t"/>
          <a:lstStyle/>
          <a:p>
            <a:pPr marL="0" indent="0" algn="l">
              <a:lnSpc>
                <a:spcPct val="110000"/>
              </a:lnSpc>
              <a:buNone/>
            </a:pPr>
            <a:r>
              <a:rPr sz="600">
                <a:solidFill>
                  <a:srgbClr val="F2B42D"/>
                </a:solidFill>
                <a:latin typeface="PT Sans"/>
                <a:ea typeface="PT Sans"/>
                <a:cs typeface="PT Sans"/>
              </a:rPr>
              <a:t>LIVE DEMO</a:t>
            </a:r>
          </a:p>
        </p:txBody>
      </p:sp>
      <p:sp>
        <p:nvSpPr>
          <p:cNvPr id="5" name="Text 2">
            <a:extLst>
              <a:ext uri="{FF2B5EF4-FFF2-40B4-BE49-F238E27FC236}">
                <a16:creationId xmlns:a16="http://schemas.microsoft.com/office/drawing/2014/main" id="{B053F719-A551-49F4-975A-B7D2BA1C8A4A}"/>
              </a:ext>
            </a:extLst>
          </p:cNvPr>
          <p:cNvSpPr>
            <a:spLocks noGrp="1"/>
          </p:cNvSpPr>
          <p:nvPr/>
        </p:nvSpPr>
        <p:spPr>
          <a:xfrm>
            <a:off x="3952589" y="760762"/>
            <a:ext cx="4667822" cy="628650"/>
          </a:xfrm>
          <a:prstGeom prst="rect">
            <a:avLst/>
          </a:prstGeom>
          <a:noFill/>
        </p:spPr>
        <p:txBody>
          <a:bodyPr wrap="square" lIns="0" tIns="0" rIns="0" bIns="0" anchor="t">
            <a:normAutofit/>
          </a:bodyPr>
          <a:lstStyle/>
          <a:p>
            <a:pPr marL="0" indent="0" algn="l">
              <a:lnSpc>
                <a:spcPct val="104000"/>
              </a:lnSpc>
              <a:buNone/>
            </a:pPr>
            <a:r>
              <a:rPr sz="1913" b="1">
                <a:solidFill>
                  <a:srgbClr val="F9FAFB"/>
                </a:solidFill>
                <a:latin typeface="Nunito SemiBold"/>
                <a:ea typeface="Nunito SemiBold"/>
                <a:cs typeface="Nunito SemiBold"/>
              </a:rPr>
              <a:t>The Demo Shows Streamlit Calling Flask in Real Time</a:t>
            </a:r>
          </a:p>
        </p:txBody>
      </p:sp>
      <p:sp>
        <p:nvSpPr>
          <p:cNvPr id="6" name="Text 3">
            <a:extLst>
              <a:ext uri="{FF2B5EF4-FFF2-40B4-BE49-F238E27FC236}">
                <a16:creationId xmlns:a16="http://schemas.microsoft.com/office/drawing/2014/main" id="{6419C939-1D29-40E4-8970-C8E1810E1BDB}"/>
              </a:ext>
            </a:extLst>
          </p:cNvPr>
          <p:cNvSpPr>
            <a:spLocks noGrp="1"/>
          </p:cNvSpPr>
          <p:nvPr/>
        </p:nvSpPr>
        <p:spPr>
          <a:xfrm>
            <a:off x="3952577" y="1427485"/>
            <a:ext cx="194444" cy="121518"/>
          </a:xfrm>
          <a:prstGeom prst="rect">
            <a:avLst/>
          </a:prstGeom>
          <a:noFill/>
        </p:spPr>
        <p:txBody>
          <a:bodyPr wrap="none" lIns="0" tIns="0" rIns="0" bIns="0" anchor="ctr"/>
          <a:lstStyle/>
          <a:p>
            <a:pPr marL="0" indent="0" algn="l">
              <a:lnSpc>
                <a:spcPct val="100000"/>
              </a:lnSpc>
              <a:buNone/>
            </a:pPr>
            <a:r>
              <a:rPr sz="750">
                <a:solidFill>
                  <a:srgbClr val="FFFFFF"/>
                </a:solidFill>
                <a:latin typeface="Nunito Light"/>
                <a:ea typeface="Nunito Light"/>
                <a:cs typeface="Nunito Light"/>
              </a:rPr>
              <a:t>01</a:t>
            </a:r>
          </a:p>
        </p:txBody>
      </p:sp>
      <p:sp>
        <p:nvSpPr>
          <p:cNvPr id="7" name="Shape 4">
            <a:extLst>
              <a:ext uri="{FF2B5EF4-FFF2-40B4-BE49-F238E27FC236}">
                <a16:creationId xmlns:a16="http://schemas.microsoft.com/office/drawing/2014/main" id="{DE444F4C-06B5-41EE-92F4-A3879D796C55}"/>
              </a:ext>
            </a:extLst>
          </p:cNvPr>
          <p:cNvSpPr>
            <a:spLocks noGrp="1"/>
          </p:cNvSpPr>
          <p:nvPr/>
        </p:nvSpPr>
        <p:spPr>
          <a:xfrm>
            <a:off x="3952577" y="1578397"/>
            <a:ext cx="4667845" cy="14288"/>
          </a:xfrm>
          <a:prstGeom prst="rect">
            <a:avLst/>
          </a:prstGeom>
          <a:solidFill>
            <a:srgbClr val="F2B42D"/>
          </a:solidFill>
        </p:spPr>
        <p:txBody>
          <a:bodyPr/>
          <a:lstStyle/>
          <a:p>
            <a:endParaRPr/>
          </a:p>
        </p:txBody>
      </p:sp>
      <p:sp>
        <p:nvSpPr>
          <p:cNvPr id="8" name="Text 5">
            <a:extLst>
              <a:ext uri="{FF2B5EF4-FFF2-40B4-BE49-F238E27FC236}">
                <a16:creationId xmlns:a16="http://schemas.microsoft.com/office/drawing/2014/main" id="{378FD59E-E7BA-4714-B0E2-56D365F3BC91}"/>
              </a:ext>
            </a:extLst>
          </p:cNvPr>
          <p:cNvSpPr>
            <a:spLocks noGrp="1"/>
          </p:cNvSpPr>
          <p:nvPr/>
        </p:nvSpPr>
        <p:spPr>
          <a:xfrm>
            <a:off x="3952577" y="1655564"/>
            <a:ext cx="1144042" cy="142949"/>
          </a:xfrm>
          <a:prstGeom prst="rect">
            <a:avLst/>
          </a:prstGeom>
          <a:noFill/>
        </p:spPr>
        <p:txBody>
          <a:bodyPr wrap="none" lIns="0" tIns="0" rIns="0" bIns="0" anchor="t"/>
          <a:lstStyle/>
          <a:p>
            <a:pPr marL="0" indent="0" algn="l">
              <a:lnSpc>
                <a:spcPct val="104000"/>
              </a:lnSpc>
              <a:buNone/>
            </a:pPr>
            <a:r>
              <a:rPr sz="900">
                <a:solidFill>
                  <a:srgbClr val="FFFFFF"/>
                </a:solidFill>
                <a:latin typeface="Nunito SemiBold"/>
                <a:ea typeface="Nunito SemiBold"/>
                <a:cs typeface="Nunito SemiBold"/>
              </a:rPr>
              <a:t>Choose Method</a:t>
            </a:r>
          </a:p>
        </p:txBody>
      </p:sp>
      <p:sp>
        <p:nvSpPr>
          <p:cNvPr id="9" name="Text 6">
            <a:extLst>
              <a:ext uri="{FF2B5EF4-FFF2-40B4-BE49-F238E27FC236}">
                <a16:creationId xmlns:a16="http://schemas.microsoft.com/office/drawing/2014/main" id="{31354DDC-F850-4632-A3F3-F9DAB902C247}"/>
              </a:ext>
            </a:extLst>
          </p:cNvPr>
          <p:cNvSpPr>
            <a:spLocks noGrp="1"/>
          </p:cNvSpPr>
          <p:nvPr/>
        </p:nvSpPr>
        <p:spPr>
          <a:xfrm>
            <a:off x="3952589" y="1836420"/>
            <a:ext cx="4667822" cy="171450"/>
          </a:xfrm>
          <a:prstGeom prst="rect">
            <a:avLst/>
          </a:prstGeom>
          <a:noFill/>
        </p:spPr>
        <p:txBody>
          <a:bodyPr wrap="none" lIns="0" tIns="0" rIns="0" bIns="0" anchor="t"/>
          <a:lstStyle/>
          <a:p>
            <a:pPr marL="0" indent="0" algn="l">
              <a:lnSpc>
                <a:spcPct val="110000"/>
              </a:lnSpc>
              <a:buNone/>
            </a:pPr>
            <a:r>
              <a:rPr sz="863">
                <a:solidFill>
                  <a:srgbClr val="D1D5DB"/>
                </a:solidFill>
                <a:latin typeface="PT Sans"/>
                <a:ea typeface="PT Sans"/>
                <a:cs typeface="PT Sans"/>
              </a:rPr>
              <a:t>Select XGBoost or SARIMA, then set the forecast horizon.</a:t>
            </a:r>
          </a:p>
        </p:txBody>
      </p:sp>
      <p:sp>
        <p:nvSpPr>
          <p:cNvPr id="10" name="Text 7">
            <a:extLst>
              <a:ext uri="{FF2B5EF4-FFF2-40B4-BE49-F238E27FC236}">
                <a16:creationId xmlns:a16="http://schemas.microsoft.com/office/drawing/2014/main" id="{867AF3B6-A201-4A83-B758-034D6B9784DA}"/>
              </a:ext>
            </a:extLst>
          </p:cNvPr>
          <p:cNvSpPr>
            <a:spLocks noGrp="1"/>
          </p:cNvSpPr>
          <p:nvPr/>
        </p:nvSpPr>
        <p:spPr>
          <a:xfrm>
            <a:off x="3952577" y="2100858"/>
            <a:ext cx="194444" cy="121518"/>
          </a:xfrm>
          <a:prstGeom prst="rect">
            <a:avLst/>
          </a:prstGeom>
          <a:noFill/>
        </p:spPr>
        <p:txBody>
          <a:bodyPr wrap="none" lIns="0" tIns="0" rIns="0" bIns="0" anchor="ctr"/>
          <a:lstStyle/>
          <a:p>
            <a:pPr marL="0" indent="0" algn="l">
              <a:lnSpc>
                <a:spcPct val="100000"/>
              </a:lnSpc>
              <a:buNone/>
            </a:pPr>
            <a:r>
              <a:rPr sz="750">
                <a:solidFill>
                  <a:srgbClr val="FFFFFF"/>
                </a:solidFill>
                <a:latin typeface="Nunito Light"/>
                <a:ea typeface="Nunito Light"/>
                <a:cs typeface="Nunito Light"/>
              </a:rPr>
              <a:t>02</a:t>
            </a:r>
          </a:p>
        </p:txBody>
      </p:sp>
      <p:sp>
        <p:nvSpPr>
          <p:cNvPr id="11" name="Shape 8">
            <a:extLst>
              <a:ext uri="{FF2B5EF4-FFF2-40B4-BE49-F238E27FC236}">
                <a16:creationId xmlns:a16="http://schemas.microsoft.com/office/drawing/2014/main" id="{231B8FC0-AEF2-47FD-8B51-CF4014C1645D}"/>
              </a:ext>
            </a:extLst>
          </p:cNvPr>
          <p:cNvSpPr>
            <a:spLocks noGrp="1"/>
          </p:cNvSpPr>
          <p:nvPr/>
        </p:nvSpPr>
        <p:spPr>
          <a:xfrm>
            <a:off x="3952577" y="2251770"/>
            <a:ext cx="4667845" cy="14288"/>
          </a:xfrm>
          <a:prstGeom prst="rect">
            <a:avLst/>
          </a:prstGeom>
          <a:solidFill>
            <a:srgbClr val="D7425E"/>
          </a:solidFill>
        </p:spPr>
        <p:txBody>
          <a:bodyPr/>
          <a:lstStyle/>
          <a:p>
            <a:endParaRPr/>
          </a:p>
        </p:txBody>
      </p:sp>
      <p:sp>
        <p:nvSpPr>
          <p:cNvPr id="12" name="Text 9">
            <a:extLst>
              <a:ext uri="{FF2B5EF4-FFF2-40B4-BE49-F238E27FC236}">
                <a16:creationId xmlns:a16="http://schemas.microsoft.com/office/drawing/2014/main" id="{8AFCCAA8-D5CB-4CD1-A3C4-B1E0ABB0B286}"/>
              </a:ext>
            </a:extLst>
          </p:cNvPr>
          <p:cNvSpPr>
            <a:spLocks noGrp="1"/>
          </p:cNvSpPr>
          <p:nvPr/>
        </p:nvSpPr>
        <p:spPr>
          <a:xfrm>
            <a:off x="3952577" y="2328937"/>
            <a:ext cx="1144042" cy="142949"/>
          </a:xfrm>
          <a:prstGeom prst="rect">
            <a:avLst/>
          </a:prstGeom>
          <a:noFill/>
        </p:spPr>
        <p:txBody>
          <a:bodyPr wrap="none" lIns="0" tIns="0" rIns="0" bIns="0" anchor="t"/>
          <a:lstStyle/>
          <a:p>
            <a:pPr marL="0" indent="0" algn="l">
              <a:lnSpc>
                <a:spcPct val="104000"/>
              </a:lnSpc>
              <a:buNone/>
            </a:pPr>
            <a:r>
              <a:rPr sz="1013" b="1">
                <a:solidFill>
                  <a:srgbClr val="F9FAFB"/>
                </a:solidFill>
                <a:latin typeface="Nunito SemiBold"/>
                <a:ea typeface="Nunito SemiBold"/>
                <a:cs typeface="Nunito SemiBold"/>
              </a:rPr>
              <a:t>Submit Forecast</a:t>
            </a:r>
          </a:p>
        </p:txBody>
      </p:sp>
      <p:sp>
        <p:nvSpPr>
          <p:cNvPr id="13" name="Text 10">
            <a:extLst>
              <a:ext uri="{FF2B5EF4-FFF2-40B4-BE49-F238E27FC236}">
                <a16:creationId xmlns:a16="http://schemas.microsoft.com/office/drawing/2014/main" id="{DCFB37F0-6666-4047-9748-70EF987A1446}"/>
              </a:ext>
            </a:extLst>
          </p:cNvPr>
          <p:cNvSpPr>
            <a:spLocks noGrp="1"/>
          </p:cNvSpPr>
          <p:nvPr/>
        </p:nvSpPr>
        <p:spPr>
          <a:xfrm>
            <a:off x="3952589" y="2509742"/>
            <a:ext cx="4667822" cy="171450"/>
          </a:xfrm>
          <a:prstGeom prst="rect">
            <a:avLst/>
          </a:prstGeom>
          <a:noFill/>
        </p:spPr>
        <p:txBody>
          <a:bodyPr wrap="none" lIns="0" tIns="0" rIns="0" bIns="0" anchor="t"/>
          <a:lstStyle/>
          <a:p>
            <a:pPr marL="0" indent="0" algn="l">
              <a:lnSpc>
                <a:spcPct val="110000"/>
              </a:lnSpc>
              <a:buNone/>
            </a:pPr>
            <a:r>
              <a:rPr sz="863">
                <a:solidFill>
                  <a:srgbClr val="D1D5DB"/>
                </a:solidFill>
                <a:latin typeface="PT Sans"/>
                <a:ea typeface="PT Sans"/>
                <a:cs typeface="PT Sans"/>
              </a:rPr>
              <a:t>Streamlit sends horizon + method to Flask /predict.</a:t>
            </a:r>
          </a:p>
        </p:txBody>
      </p:sp>
      <p:sp>
        <p:nvSpPr>
          <p:cNvPr id="14" name="Text 11">
            <a:extLst>
              <a:ext uri="{FF2B5EF4-FFF2-40B4-BE49-F238E27FC236}">
                <a16:creationId xmlns:a16="http://schemas.microsoft.com/office/drawing/2014/main" id="{B8D57E39-F070-4345-BC1A-191BD96624AB}"/>
              </a:ext>
            </a:extLst>
          </p:cNvPr>
          <p:cNvSpPr>
            <a:spLocks noGrp="1"/>
          </p:cNvSpPr>
          <p:nvPr/>
        </p:nvSpPr>
        <p:spPr>
          <a:xfrm>
            <a:off x="3952577" y="2774231"/>
            <a:ext cx="194444" cy="121518"/>
          </a:xfrm>
          <a:prstGeom prst="rect">
            <a:avLst/>
          </a:prstGeom>
          <a:noFill/>
        </p:spPr>
        <p:txBody>
          <a:bodyPr wrap="none" lIns="0" tIns="0" rIns="0" bIns="0" anchor="ctr"/>
          <a:lstStyle/>
          <a:p>
            <a:pPr marL="0" indent="0" algn="l">
              <a:lnSpc>
                <a:spcPct val="100000"/>
              </a:lnSpc>
              <a:buNone/>
            </a:pPr>
            <a:r>
              <a:rPr sz="750">
                <a:solidFill>
                  <a:srgbClr val="FFFFFF"/>
                </a:solidFill>
                <a:latin typeface="Nunito Light"/>
                <a:ea typeface="Nunito Light"/>
                <a:cs typeface="Nunito Light"/>
              </a:rPr>
              <a:t>03</a:t>
            </a:r>
          </a:p>
        </p:txBody>
      </p:sp>
      <p:sp>
        <p:nvSpPr>
          <p:cNvPr id="15" name="Shape 12">
            <a:extLst>
              <a:ext uri="{FF2B5EF4-FFF2-40B4-BE49-F238E27FC236}">
                <a16:creationId xmlns:a16="http://schemas.microsoft.com/office/drawing/2014/main" id="{FE83ECF7-BC45-4529-90E7-3548B153ADF6}"/>
              </a:ext>
            </a:extLst>
          </p:cNvPr>
          <p:cNvSpPr>
            <a:spLocks noGrp="1"/>
          </p:cNvSpPr>
          <p:nvPr/>
        </p:nvSpPr>
        <p:spPr>
          <a:xfrm>
            <a:off x="3952577" y="2925142"/>
            <a:ext cx="4667845" cy="14288"/>
          </a:xfrm>
          <a:prstGeom prst="rect">
            <a:avLst/>
          </a:prstGeom>
          <a:solidFill>
            <a:srgbClr val="DD785E"/>
          </a:solidFill>
        </p:spPr>
        <p:txBody>
          <a:bodyPr/>
          <a:lstStyle/>
          <a:p>
            <a:endParaRPr/>
          </a:p>
        </p:txBody>
      </p:sp>
      <p:sp>
        <p:nvSpPr>
          <p:cNvPr id="16" name="Text 13">
            <a:extLst>
              <a:ext uri="{FF2B5EF4-FFF2-40B4-BE49-F238E27FC236}">
                <a16:creationId xmlns:a16="http://schemas.microsoft.com/office/drawing/2014/main" id="{37AD6019-4F79-42A3-A615-655DBF664F81}"/>
              </a:ext>
            </a:extLst>
          </p:cNvPr>
          <p:cNvSpPr>
            <a:spLocks noGrp="1"/>
          </p:cNvSpPr>
          <p:nvPr/>
        </p:nvSpPr>
        <p:spPr>
          <a:xfrm>
            <a:off x="3952577" y="3002310"/>
            <a:ext cx="1144042" cy="142949"/>
          </a:xfrm>
          <a:prstGeom prst="rect">
            <a:avLst/>
          </a:prstGeom>
          <a:noFill/>
        </p:spPr>
        <p:txBody>
          <a:bodyPr wrap="none" lIns="0" tIns="0" rIns="0" bIns="0" anchor="t"/>
          <a:lstStyle/>
          <a:p>
            <a:pPr marL="0" indent="0" algn="l">
              <a:lnSpc>
                <a:spcPct val="104000"/>
              </a:lnSpc>
              <a:buNone/>
            </a:pPr>
            <a:r>
              <a:rPr sz="900">
                <a:solidFill>
                  <a:srgbClr val="FFFFFF"/>
                </a:solidFill>
                <a:latin typeface="Nunito SemiBold"/>
                <a:ea typeface="Nunito SemiBold"/>
                <a:cs typeface="Nunito SemiBold"/>
              </a:rPr>
              <a:t>API Forecast</a:t>
            </a:r>
          </a:p>
        </p:txBody>
      </p:sp>
      <p:sp>
        <p:nvSpPr>
          <p:cNvPr id="17" name="Text 14">
            <a:extLst>
              <a:ext uri="{FF2B5EF4-FFF2-40B4-BE49-F238E27FC236}">
                <a16:creationId xmlns:a16="http://schemas.microsoft.com/office/drawing/2014/main" id="{DEB24296-17EB-4380-8F78-A9C6F3869680}"/>
              </a:ext>
            </a:extLst>
          </p:cNvPr>
          <p:cNvSpPr>
            <a:spLocks noGrp="1"/>
          </p:cNvSpPr>
          <p:nvPr/>
        </p:nvSpPr>
        <p:spPr>
          <a:xfrm>
            <a:off x="3952589" y="3183160"/>
            <a:ext cx="4667822" cy="171450"/>
          </a:xfrm>
          <a:prstGeom prst="rect">
            <a:avLst/>
          </a:prstGeom>
          <a:noFill/>
        </p:spPr>
        <p:txBody>
          <a:bodyPr wrap="none" lIns="0" tIns="0" rIns="0" bIns="0" anchor="t"/>
          <a:lstStyle/>
          <a:p>
            <a:pPr marL="0" indent="0" algn="l">
              <a:lnSpc>
                <a:spcPct val="110000"/>
              </a:lnSpc>
              <a:buNone/>
            </a:pPr>
            <a:r>
              <a:rPr sz="863">
                <a:solidFill>
                  <a:srgbClr val="D1D5DB"/>
                </a:solidFill>
                <a:latin typeface="Consolas"/>
                <a:ea typeface="Consolas"/>
                <a:cs typeface="Consolas"/>
              </a:rPr>
              <a:t>Flask loads the trained model and returns weekly JSON forecasts.</a:t>
            </a:r>
          </a:p>
        </p:txBody>
      </p:sp>
      <p:sp>
        <p:nvSpPr>
          <p:cNvPr id="18" name="Text 15">
            <a:extLst>
              <a:ext uri="{FF2B5EF4-FFF2-40B4-BE49-F238E27FC236}">
                <a16:creationId xmlns:a16="http://schemas.microsoft.com/office/drawing/2014/main" id="{E5B6FDC9-EAB8-4D72-84C0-6AB0CD39CDA6}"/>
              </a:ext>
            </a:extLst>
          </p:cNvPr>
          <p:cNvSpPr>
            <a:spLocks noGrp="1"/>
          </p:cNvSpPr>
          <p:nvPr/>
        </p:nvSpPr>
        <p:spPr>
          <a:xfrm>
            <a:off x="3952577" y="3452366"/>
            <a:ext cx="194444" cy="121518"/>
          </a:xfrm>
          <a:prstGeom prst="rect">
            <a:avLst/>
          </a:prstGeom>
          <a:noFill/>
        </p:spPr>
        <p:txBody>
          <a:bodyPr wrap="none" lIns="0" tIns="0" rIns="0" bIns="0" anchor="ctr"/>
          <a:lstStyle/>
          <a:p>
            <a:pPr marL="0" indent="0" algn="l">
              <a:lnSpc>
                <a:spcPct val="100000"/>
              </a:lnSpc>
              <a:buNone/>
            </a:pPr>
            <a:r>
              <a:rPr sz="750">
                <a:solidFill>
                  <a:srgbClr val="FFFFFF"/>
                </a:solidFill>
                <a:latin typeface="Nunito Light"/>
                <a:ea typeface="Nunito Light"/>
                <a:cs typeface="Nunito Light"/>
              </a:rPr>
              <a:t>04</a:t>
            </a:r>
          </a:p>
        </p:txBody>
      </p:sp>
      <p:sp>
        <p:nvSpPr>
          <p:cNvPr id="19" name="Shape 16">
            <a:extLst>
              <a:ext uri="{FF2B5EF4-FFF2-40B4-BE49-F238E27FC236}">
                <a16:creationId xmlns:a16="http://schemas.microsoft.com/office/drawing/2014/main" id="{21E4C06D-ED8E-4572-AFAE-540F5CCC4761}"/>
              </a:ext>
            </a:extLst>
          </p:cNvPr>
          <p:cNvSpPr>
            <a:spLocks noGrp="1"/>
          </p:cNvSpPr>
          <p:nvPr/>
        </p:nvSpPr>
        <p:spPr>
          <a:xfrm>
            <a:off x="3952577" y="3603278"/>
            <a:ext cx="4667845" cy="14288"/>
          </a:xfrm>
          <a:prstGeom prst="rect">
            <a:avLst/>
          </a:prstGeom>
          <a:solidFill>
            <a:srgbClr val="48A8E2"/>
          </a:solidFill>
        </p:spPr>
        <p:txBody>
          <a:bodyPr/>
          <a:lstStyle/>
          <a:p>
            <a:endParaRPr/>
          </a:p>
        </p:txBody>
      </p:sp>
      <p:sp>
        <p:nvSpPr>
          <p:cNvPr id="20" name="Text 17">
            <a:extLst>
              <a:ext uri="{FF2B5EF4-FFF2-40B4-BE49-F238E27FC236}">
                <a16:creationId xmlns:a16="http://schemas.microsoft.com/office/drawing/2014/main" id="{81E44DF2-57B0-433B-8B70-872D9502755D}"/>
              </a:ext>
            </a:extLst>
          </p:cNvPr>
          <p:cNvSpPr>
            <a:spLocks noGrp="1"/>
          </p:cNvSpPr>
          <p:nvPr/>
        </p:nvSpPr>
        <p:spPr>
          <a:xfrm>
            <a:off x="3952577" y="3680445"/>
            <a:ext cx="1144042" cy="142949"/>
          </a:xfrm>
          <a:prstGeom prst="rect">
            <a:avLst/>
          </a:prstGeom>
          <a:noFill/>
        </p:spPr>
        <p:txBody>
          <a:bodyPr wrap="none" lIns="0" tIns="0" rIns="0" bIns="0" anchor="t"/>
          <a:lstStyle/>
          <a:p>
            <a:pPr marL="0" indent="0" algn="l">
              <a:lnSpc>
                <a:spcPct val="104000"/>
              </a:lnSpc>
              <a:buNone/>
            </a:pPr>
            <a:r>
              <a:rPr sz="900">
                <a:solidFill>
                  <a:srgbClr val="FFFFFF"/>
                </a:solidFill>
                <a:latin typeface="Nunito SemiBold"/>
                <a:ea typeface="Nunito SemiBold"/>
                <a:cs typeface="Nunito SemiBold"/>
              </a:rPr>
              <a:t>View Results</a:t>
            </a:r>
          </a:p>
        </p:txBody>
      </p:sp>
      <p:sp>
        <p:nvSpPr>
          <p:cNvPr id="21" name="Text 18">
            <a:extLst>
              <a:ext uri="{FF2B5EF4-FFF2-40B4-BE49-F238E27FC236}">
                <a16:creationId xmlns:a16="http://schemas.microsoft.com/office/drawing/2014/main" id="{C49207B3-1A7D-4C21-BB59-3933DD7CD28E}"/>
              </a:ext>
            </a:extLst>
          </p:cNvPr>
          <p:cNvSpPr>
            <a:spLocks noGrp="1"/>
          </p:cNvSpPr>
          <p:nvPr/>
        </p:nvSpPr>
        <p:spPr>
          <a:xfrm>
            <a:off x="3952589" y="3861245"/>
            <a:ext cx="4667822" cy="285750"/>
          </a:xfrm>
          <a:prstGeom prst="rect">
            <a:avLst/>
          </a:prstGeom>
          <a:noFill/>
        </p:spPr>
        <p:txBody>
          <a:bodyPr wrap="none" lIns="0" tIns="0" rIns="0" bIns="0" anchor="t"/>
          <a:lstStyle/>
          <a:p>
            <a:pPr marL="0" indent="0" algn="l">
              <a:lnSpc>
                <a:spcPct val="110000"/>
              </a:lnSpc>
              <a:buNone/>
            </a:pPr>
            <a:r>
              <a:rPr sz="863">
                <a:solidFill>
                  <a:srgbClr val="D1D5DB"/>
                </a:solidFill>
                <a:latin typeface="PT Sans"/>
                <a:ea typeface="PT Sans"/>
                <a:cs typeface="PT Sans"/>
              </a:rPr>
              <a:t>The app displays the forecast chart/table while the raw API call proves the backend works independently.</a:t>
            </a:r>
          </a:p>
        </p:txBody>
      </p:sp>
      <p:sp>
        <p:nvSpPr>
          <p:cNvPr id="22" name="Shape 19">
            <a:extLst>
              <a:ext uri="{FF2B5EF4-FFF2-40B4-BE49-F238E27FC236}">
                <a16:creationId xmlns:a16="http://schemas.microsoft.com/office/drawing/2014/main" id="{2B4E6D68-68D1-44DD-A399-2F4CA23B606F}"/>
              </a:ext>
            </a:extLst>
          </p:cNvPr>
          <p:cNvSpPr>
            <a:spLocks noGrp="1"/>
          </p:cNvSpPr>
          <p:nvPr/>
        </p:nvSpPr>
        <p:spPr>
          <a:xfrm>
            <a:off x="3952577" y="4133627"/>
            <a:ext cx="4667845" cy="454372"/>
          </a:xfrm>
          <a:prstGeom prst="roundRect">
            <a:avLst>
              <a:gd name="adj" fmla="val 32104"/>
            </a:avLst>
          </a:prstGeom>
          <a:solidFill>
            <a:srgbClr val="022349"/>
          </a:solidFill>
        </p:spPr>
        <p:txBody>
          <a:bodyPr/>
          <a:lstStyle/>
          <a:p>
            <a:endParaRPr/>
          </a:p>
        </p:txBody>
      </p:sp>
      <p:pic>
        <p:nvPicPr>
          <p:cNvPr id="23" name="Image 1"/>
          <p:cNvPicPr>
            <a:picLocks noChangeAspect="1"/>
          </p:cNvPicPr>
          <p:nvPr/>
        </p:nvPicPr>
        <p:blipFill>
          <a:blip r:embed="rId3"/>
          <a:stretch>
            <a:fillRect/>
          </a:stretch>
        </p:blipFill>
        <p:spPr>
          <a:xfrm>
            <a:off x="4049762" y="4265265"/>
            <a:ext cx="121518" cy="97185"/>
          </a:xfrm>
          <a:prstGeom prst="rect">
            <a:avLst/>
          </a:prstGeom>
        </p:spPr>
      </p:pic>
      <p:sp>
        <p:nvSpPr>
          <p:cNvPr id="24" name="Text 20">
            <a:extLst>
              <a:ext uri="{FF2B5EF4-FFF2-40B4-BE49-F238E27FC236}">
                <a16:creationId xmlns:a16="http://schemas.microsoft.com/office/drawing/2014/main" id="{DE35904E-0D35-4E65-88DA-80C9210B74F5}"/>
              </a:ext>
            </a:extLst>
          </p:cNvPr>
          <p:cNvSpPr>
            <a:spLocks noGrp="1"/>
          </p:cNvSpPr>
          <p:nvPr/>
        </p:nvSpPr>
        <p:spPr>
          <a:xfrm>
            <a:off x="4268438" y="4210050"/>
            <a:ext cx="4254818" cy="323850"/>
          </a:xfrm>
          <a:prstGeom prst="rect">
            <a:avLst/>
          </a:prstGeom>
          <a:noFill/>
        </p:spPr>
        <p:txBody>
          <a:bodyPr wrap="square" lIns="0" tIns="0" rIns="0" bIns="0" anchor="t">
            <a:normAutofit/>
          </a:bodyPr>
          <a:lstStyle/>
          <a:p>
            <a:pPr marL="0" indent="0" algn="l">
              <a:lnSpc>
                <a:spcPct val="110000"/>
              </a:lnSpc>
              <a:buNone/>
            </a:pPr>
            <a:r>
              <a:rPr sz="840" b="1">
                <a:solidFill>
                  <a:srgbClr val="F9FAFB"/>
                </a:solidFill>
                <a:latin typeface="PT Sans"/>
                <a:ea typeface="PT Sans"/>
                <a:cs typeface="PT Sans"/>
              </a:rPr>
              <a:t>Live demo links: Streamlit app + POST https://fuel-price-api-oluqiqxkmq-uw.a.run.app/predict</a:t>
            </a:r>
          </a:p>
        </p:txBody>
      </p:sp>
      <p:sp>
        <p:nvSpPr>
          <p:cNvPr id="27" name="Rectangle 26">
            <a:extLst>
              <a:ext uri="{FF2B5EF4-FFF2-40B4-BE49-F238E27FC236}">
                <a16:creationId xmlns:a16="http://schemas.microsoft.com/office/drawing/2014/main" id="{F2A04EC9-2EF2-463F-9661-87E289ABA512}"/>
              </a:ext>
            </a:extLst>
          </p:cNvPr>
          <p:cNvSpPr>
            <a:spLocks noGrp="1"/>
          </p:cNvSpPr>
          <p:nvPr/>
        </p:nvSpPr>
        <p:spPr>
          <a:xfrm>
            <a:off x="0" y="0"/>
            <a:ext cx="3429000" cy="5143500"/>
          </a:xfrm>
          <a:prstGeom prst="rect">
            <a:avLst/>
          </a:prstGeom>
          <a:solidFill>
            <a:srgbClr val="0B1220"/>
          </a:solidFill>
          <a:ln w="0">
            <a:solidFill>
              <a:srgbClr val="0B1220"/>
            </a:solidFill>
          </a:ln>
        </p:spPr>
        <p:txBody>
          <a:bodyPr/>
          <a:lstStyle/>
          <a:p>
            <a:endParaRPr lang="en-US"/>
          </a:p>
        </p:txBody>
      </p:sp>
      <p:sp>
        <p:nvSpPr>
          <p:cNvPr id="28" name="Rectangle 27">
            <a:extLst>
              <a:ext uri="{FF2B5EF4-FFF2-40B4-BE49-F238E27FC236}">
                <a16:creationId xmlns:a16="http://schemas.microsoft.com/office/drawing/2014/main" id="{4967229B-B648-4D55-8A2F-9E164D89A508}"/>
              </a:ext>
            </a:extLst>
          </p:cNvPr>
          <p:cNvSpPr>
            <a:spLocks noGrp="1"/>
          </p:cNvSpPr>
          <p:nvPr/>
        </p:nvSpPr>
        <p:spPr>
          <a:xfrm>
            <a:off x="228600" y="285750"/>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93C5FD"/>
                </a:solidFill>
                <a:latin typeface="Aptos"/>
                <a:ea typeface="Aptos"/>
                <a:cs typeface="Aptos"/>
              </a:defRPr>
            </a:pPr>
            <a:r>
              <a:rPr sz="863" b="1">
                <a:solidFill>
                  <a:srgbClr val="93C5FD"/>
                </a:solidFill>
                <a:latin typeface="Aptos"/>
                <a:ea typeface="Aptos"/>
                <a:cs typeface="Aptos"/>
              </a:rPr>
              <a:t>LIVE APP SCREENSHOTS</a:t>
            </a:r>
          </a:p>
        </p:txBody>
      </p:sp>
      <p:sp>
        <p:nvSpPr>
          <p:cNvPr id="29" name="Rectangle 28">
            <a:extLst>
              <a:ext uri="{FF2B5EF4-FFF2-40B4-BE49-F238E27FC236}">
                <a16:creationId xmlns:a16="http://schemas.microsoft.com/office/drawing/2014/main" id="{348E26CE-5F53-417B-BBBE-BFC3D428A1E7}"/>
              </a:ext>
            </a:extLst>
          </p:cNvPr>
          <p:cNvSpPr>
            <a:spLocks noGrp="1"/>
          </p:cNvSpPr>
          <p:nvPr/>
        </p:nvSpPr>
        <p:spPr>
          <a:xfrm>
            <a:off x="228600" y="476250"/>
            <a:ext cx="2905125"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CBD5E1"/>
                </a:solidFill>
                <a:latin typeface="Aptos"/>
                <a:ea typeface="Aptos"/>
                <a:cs typeface="Aptos"/>
              </a:defRPr>
            </a:pPr>
            <a:r>
              <a:rPr sz="750" b="0">
                <a:solidFill>
                  <a:srgbClr val="CBD5E1"/>
                </a:solidFill>
                <a:latin typeface="Aptos"/>
                <a:ea typeface="Aptos"/>
                <a:cs typeface="Aptos"/>
              </a:rPr>
              <a:t>Click to reveal: Streamlit UI, then Flask API JSON</a:t>
            </a:r>
          </a:p>
        </p:txBody>
      </p:sp>
      <p:sp>
        <p:nvSpPr>
          <p:cNvPr id="30" name="Rounded Rectangle 29">
            <a:extLst>
              <a:ext uri="{FF2B5EF4-FFF2-40B4-BE49-F238E27FC236}">
                <a16:creationId xmlns:a16="http://schemas.microsoft.com/office/drawing/2014/main" id="{FBA94A6B-07EF-4A22-A763-7F7C17301F23}"/>
              </a:ext>
            </a:extLst>
          </p:cNvPr>
          <p:cNvSpPr>
            <a:spLocks noGrp="1"/>
          </p:cNvSpPr>
          <p:nvPr/>
        </p:nvSpPr>
        <p:spPr>
          <a:xfrm>
            <a:off x="171450" y="742950"/>
            <a:ext cx="3086100" cy="1933575"/>
          </a:xfrm>
          <a:prstGeom prst="roundRect">
            <a:avLst>
              <a:gd name="adj" fmla="val 3941"/>
            </a:avLst>
          </a:prstGeom>
          <a:solidFill>
            <a:srgbClr val="FFFFFF"/>
          </a:solidFill>
          <a:ln w="10478">
            <a:solidFill>
              <a:srgbClr val="334155"/>
            </a:solidFill>
          </a:ln>
        </p:spPr>
        <p:txBody>
          <a:bodyPr/>
          <a:lstStyle/>
          <a:p>
            <a:endParaRPr lang="en-US"/>
          </a:p>
        </p:txBody>
      </p:sp>
      <p:pic>
        <p:nvPicPr>
          <p:cNvPr id="31" name="Picture 30"/>
          <p:cNvPicPr>
            <a:picLocks noChangeAspect="1"/>
          </p:cNvPicPr>
          <p:nvPr/>
        </p:nvPicPr>
        <p:blipFill>
          <a:blip r:embed="rId4"/>
          <a:stretch/>
        </p:blipFill>
        <p:spPr>
          <a:xfrm>
            <a:off x="213360" y="771525"/>
            <a:ext cx="3002280" cy="1876425"/>
          </a:xfrm>
          <a:prstGeom prst="rect">
            <a:avLst/>
          </a:prstGeom>
        </p:spPr>
      </p:pic>
      <p:sp>
        <p:nvSpPr>
          <p:cNvPr id="32" name="Rectangle 31">
            <a:extLst>
              <a:ext uri="{FF2B5EF4-FFF2-40B4-BE49-F238E27FC236}">
                <a16:creationId xmlns:a16="http://schemas.microsoft.com/office/drawing/2014/main" id="{D9CA5973-35EF-477A-B874-95E15A4960BA}"/>
              </a:ext>
            </a:extLst>
          </p:cNvPr>
          <p:cNvSpPr>
            <a:spLocks noGrp="1"/>
          </p:cNvSpPr>
          <p:nvPr/>
        </p:nvSpPr>
        <p:spPr>
          <a:xfrm>
            <a:off x="228600" y="2724150"/>
            <a:ext cx="2952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1">
                <a:solidFill>
                  <a:srgbClr val="F9FAFB"/>
                </a:solidFill>
                <a:latin typeface="Aptos"/>
                <a:ea typeface="Aptos"/>
                <a:cs typeface="Aptos"/>
              </a:defRPr>
            </a:pPr>
            <a:r>
              <a:rPr sz="885" b="1">
                <a:solidFill>
                  <a:srgbClr val="F9FAFB"/>
                </a:solidFill>
                <a:latin typeface="Aptos"/>
                <a:ea typeface="Aptos"/>
                <a:cs typeface="Aptos"/>
              </a:rPr>
              <a:t>1  Streamlit dashboard on Cloud Run</a:t>
            </a:r>
          </a:p>
        </p:txBody>
      </p:sp>
      <p:pic>
        <p:nvPicPr>
          <p:cNvPr id="33" name="Picture 32"/>
          <p:cNvPicPr>
            <a:picLocks noChangeAspect="1"/>
          </p:cNvPicPr>
          <p:nvPr/>
        </p:nvPicPr>
        <p:blipFill>
          <a:blip r:embed="rId5"/>
          <a:srcRect t="53" b="53"/>
          <a:stretch>
            <a:fillRect/>
          </a:stretch>
        </p:blipFill>
        <p:spPr>
          <a:xfrm>
            <a:off x="171450" y="3028950"/>
            <a:ext cx="3086100" cy="1781175"/>
          </a:xfrm>
          <a:prstGeom prst="rect">
            <a:avLst/>
          </a:prstGeom>
        </p:spPr>
      </p:pic>
      <p:sp>
        <p:nvSpPr>
          <p:cNvPr id="34" name="Rectangle 33">
            <a:extLst>
              <a:ext uri="{FF2B5EF4-FFF2-40B4-BE49-F238E27FC236}">
                <a16:creationId xmlns:a16="http://schemas.microsoft.com/office/drawing/2014/main" id="{AA350EC3-1A6E-4201-851D-CB09C97B3420}"/>
              </a:ext>
            </a:extLst>
          </p:cNvPr>
          <p:cNvSpPr>
            <a:spLocks noGrp="1"/>
          </p:cNvSpPr>
          <p:nvPr/>
        </p:nvSpPr>
        <p:spPr>
          <a:xfrm>
            <a:off x="228600" y="4857750"/>
            <a:ext cx="2952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1">
                <a:solidFill>
                  <a:srgbClr val="F9FAFB"/>
                </a:solidFill>
                <a:latin typeface="Aptos"/>
                <a:ea typeface="Aptos"/>
                <a:cs typeface="Aptos"/>
              </a:defRPr>
            </a:pPr>
            <a:r>
              <a:rPr sz="885" b="1">
                <a:solidFill>
                  <a:srgbClr val="F9FAFB"/>
                </a:solidFill>
                <a:latin typeface="Aptos"/>
                <a:ea typeface="Aptos"/>
                <a:cs typeface="Aptos"/>
              </a:rPr>
              <a:t>2  Flask API returns the forecast payload</a:t>
            </a:r>
          </a:p>
        </p:txBody>
      </p:sp>
    </p:spTree>
    <p:extLst>
      <p:ext uri="{BB962C8B-B14F-4D97-AF65-F5344CB8AC3E}">
        <p14:creationId xmlns:p14="http://schemas.microsoft.com/office/powerpoint/2010/main" val="168384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animEffect transition="in" filter="fade">
                                <p:cBhvr>
                                  <p:cTn id="5" dur="500"/>
                                  <p:tgtEl>
                                    <p:spTgt spid="31"/>
                                  </p:tgtEl>
                                </p:cBhvr>
                              </p:animEffect>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50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6714FE4-D8B8-4DAA-9511-C6F74B7BF0BF}"/>
              </a:ext>
            </a:extLst>
          </p:cNvPr>
          <p:cNvSpPr>
            <a:spLocks noGrp="1"/>
          </p:cNvSpPr>
          <p:nvPr/>
        </p:nvSpPr>
        <p:spPr>
          <a:xfrm>
            <a:off x="523577" y="430188"/>
            <a:ext cx="808583" cy="281657"/>
          </a:xfrm>
          <a:prstGeom prst="roundRect">
            <a:avLst>
              <a:gd name="adj" fmla="val 60556"/>
            </a:avLst>
          </a:prstGeom>
          <a:noFill/>
          <a:ln w="9525">
            <a:solidFill>
              <a:srgbClr val="F2B42D"/>
            </a:solidFill>
            <a:prstDash val="solid"/>
          </a:ln>
        </p:spPr>
        <p:txBody>
          <a:bodyPr/>
          <a:lstStyle/>
          <a:p>
            <a:endParaRPr/>
          </a:p>
        </p:txBody>
      </p:sp>
      <p:sp>
        <p:nvSpPr>
          <p:cNvPr id="3" name="Text 1">
            <a:extLst>
              <a:ext uri="{FF2B5EF4-FFF2-40B4-BE49-F238E27FC236}">
                <a16:creationId xmlns:a16="http://schemas.microsoft.com/office/drawing/2014/main" id="{13F23EE9-5593-4426-992A-CB8D5DDB2631}"/>
              </a:ext>
            </a:extLst>
          </p:cNvPr>
          <p:cNvSpPr>
            <a:spLocks noGrp="1"/>
          </p:cNvSpPr>
          <p:nvPr/>
        </p:nvSpPr>
        <p:spPr>
          <a:xfrm>
            <a:off x="618381" y="482352"/>
            <a:ext cx="1076176" cy="177329"/>
          </a:xfrm>
          <a:prstGeom prst="rect">
            <a:avLst/>
          </a:prstGeom>
          <a:noFill/>
        </p:spPr>
        <p:txBody>
          <a:bodyPr wrap="none" lIns="0" tIns="0" rIns="0" bIns="0" anchor="t"/>
          <a:lstStyle/>
          <a:p>
            <a:pPr marL="0" indent="0" algn="l">
              <a:lnSpc>
                <a:spcPct val="130000"/>
              </a:lnSpc>
              <a:buNone/>
            </a:pPr>
            <a:r>
              <a:rPr sz="850">
                <a:solidFill>
                  <a:srgbClr val="F2B42D"/>
                </a:solidFill>
                <a:latin typeface="PT Sans"/>
                <a:ea typeface="PT Sans"/>
                <a:cs typeface="PT Sans"/>
              </a:rPr>
              <a:t>REFLECTION</a:t>
            </a:r>
          </a:p>
        </p:txBody>
      </p:sp>
      <p:sp>
        <p:nvSpPr>
          <p:cNvPr id="4" name="Text 2">
            <a:extLst>
              <a:ext uri="{FF2B5EF4-FFF2-40B4-BE49-F238E27FC236}">
                <a16:creationId xmlns:a16="http://schemas.microsoft.com/office/drawing/2014/main" id="{D5B459C4-FDA4-4D45-9BC5-BC78FA40335A}"/>
              </a:ext>
            </a:extLst>
          </p:cNvPr>
          <p:cNvSpPr>
            <a:spLocks noGrp="1"/>
          </p:cNvSpPr>
          <p:nvPr/>
        </p:nvSpPr>
        <p:spPr>
          <a:xfrm>
            <a:off x="523577" y="765795"/>
            <a:ext cx="8096845" cy="835968"/>
          </a:xfrm>
          <a:prstGeom prst="rect">
            <a:avLst/>
          </a:prstGeom>
          <a:noFill/>
        </p:spPr>
        <p:txBody>
          <a:bodyPr wrap="square" lIns="0" tIns="0" rIns="0" bIns="0" anchor="t">
            <a:normAutofit/>
          </a:bodyPr>
          <a:lstStyle/>
          <a:p>
            <a:pPr marL="0" indent="0" algn="l">
              <a:lnSpc>
                <a:spcPct val="104000"/>
              </a:lnSpc>
              <a:buNone/>
            </a:pPr>
            <a:r>
              <a:rPr sz="2600">
                <a:solidFill>
                  <a:srgbClr val="FFFFFF"/>
                </a:solidFill>
                <a:latin typeface="Nunito SemiBold"/>
                <a:ea typeface="Nunito SemiBold"/>
                <a:cs typeface="Nunito SemiBold"/>
              </a:rPr>
              <a:t>The Main Work Was Turning a Model Into a Reliable Deployed System</a:t>
            </a:r>
          </a:p>
        </p:txBody>
      </p:sp>
      <p:sp>
        <p:nvSpPr>
          <p:cNvPr id="5" name="Text 3">
            <a:extLst>
              <a:ext uri="{FF2B5EF4-FFF2-40B4-BE49-F238E27FC236}">
                <a16:creationId xmlns:a16="http://schemas.microsoft.com/office/drawing/2014/main" id="{114C6782-130A-43C5-9241-4027CB7D78F6}"/>
              </a:ext>
            </a:extLst>
          </p:cNvPr>
          <p:cNvSpPr>
            <a:spLocks noGrp="1"/>
          </p:cNvSpPr>
          <p:nvPr/>
        </p:nvSpPr>
        <p:spPr>
          <a:xfrm>
            <a:off x="523577" y="1939230"/>
            <a:ext cx="2129284" cy="208955"/>
          </a:xfrm>
          <a:prstGeom prst="rect">
            <a:avLst/>
          </a:prstGeom>
          <a:noFill/>
        </p:spPr>
        <p:txBody>
          <a:bodyPr wrap="none" lIns="0" tIns="0" rIns="0" bIns="0" anchor="t"/>
          <a:lstStyle/>
          <a:p>
            <a:pPr marL="0" indent="0" algn="l">
              <a:lnSpc>
                <a:spcPct val="104000"/>
              </a:lnSpc>
              <a:buNone/>
            </a:pPr>
            <a:r>
              <a:rPr sz="1300">
                <a:solidFill>
                  <a:srgbClr val="FFFFFF"/>
                </a:solidFill>
                <a:latin typeface="Nunito SemiBold"/>
                <a:ea typeface="Nunito SemiBold"/>
                <a:cs typeface="Nunito SemiBold"/>
              </a:rPr>
              <a:t>Challenges Solved</a:t>
            </a:r>
          </a:p>
        </p:txBody>
      </p:sp>
      <p:sp>
        <p:nvSpPr>
          <p:cNvPr id="6" name="Text 4">
            <a:extLst>
              <a:ext uri="{FF2B5EF4-FFF2-40B4-BE49-F238E27FC236}">
                <a16:creationId xmlns:a16="http://schemas.microsoft.com/office/drawing/2014/main" id="{2863C92A-6F01-450F-AA87-BD7A14FA46AF}"/>
              </a:ext>
            </a:extLst>
          </p:cNvPr>
          <p:cNvSpPr>
            <a:spLocks noGrp="1"/>
          </p:cNvSpPr>
          <p:nvPr/>
        </p:nvSpPr>
        <p:spPr>
          <a:xfrm>
            <a:off x="523589" y="2283143"/>
            <a:ext cx="3875056" cy="1447800"/>
          </a:xfrm>
          <a:prstGeom prst="rect">
            <a:avLst/>
          </a:prstGeom>
          <a:noFill/>
        </p:spPr>
        <p:txBody>
          <a:bodyPr wrap="square" lIns="0" tIns="0" rIns="0" bIns="0" anchor="t">
            <a:normAutofit/>
          </a:bodyPr>
          <a:lstStyle/>
          <a:p>
            <a:pPr marL="342900" indent="-342900" algn="l">
              <a:lnSpc>
                <a:spcPct val="130000"/>
              </a:lnSpc>
              <a:buChar char="•"/>
            </a:pPr>
            <a:r>
              <a:rPr sz="1155">
                <a:solidFill>
                  <a:srgbClr val="F9FAFB"/>
                </a:solidFill>
                <a:latin typeface="PT Sans"/>
                <a:ea typeface="PT Sans"/>
                <a:cs typeface="PT Sans"/>
              </a:rPr>
              <a:t>Cloud Run needed separate API/UI services and correct MODEL_API_URL wiring</a:t>
            </a:r>
          </a:p>
          <a:p>
            <a:pPr marL="342900" indent="-342900" algn="l">
              <a:lnSpc>
                <a:spcPct val="130000"/>
              </a:lnSpc>
              <a:buChar char="•"/>
            </a:pPr>
            <a:r>
              <a:rPr sz="1155">
                <a:solidFill>
                  <a:srgbClr val="F9FAFB"/>
                </a:solidFill>
                <a:latin typeface="PT Sans"/>
                <a:ea typeface="PT Sans"/>
                <a:cs typeface="PT Sans"/>
              </a:rPr>
              <a:t>SARIMA artifact was too large; compact parameter storage fixed deployment</a:t>
            </a:r>
          </a:p>
          <a:p>
            <a:pPr marL="342900" indent="-342900" algn="l">
              <a:lnSpc>
                <a:spcPct val="130000"/>
              </a:lnSpc>
              <a:buChar char="•"/>
            </a:pPr>
            <a:r>
              <a:rPr sz="1155">
                <a:solidFill>
                  <a:srgbClr val="F9FAFB"/>
                </a:solidFill>
                <a:latin typeface="PT Sans"/>
                <a:ea typeface="PT Sans"/>
                <a:cs typeface="PT Sans"/>
              </a:rPr>
              <a:t>SARIMA needed 1 Gi Cloud Run memory to avoid instance termination</a:t>
            </a:r>
          </a:p>
        </p:txBody>
      </p:sp>
      <p:sp>
        <p:nvSpPr>
          <p:cNvPr id="7" name="Text 5">
            <a:extLst>
              <a:ext uri="{FF2B5EF4-FFF2-40B4-BE49-F238E27FC236}">
                <a16:creationId xmlns:a16="http://schemas.microsoft.com/office/drawing/2014/main" id="{1D2C99FE-599D-4DF1-8F2A-3BD71FA15630}"/>
              </a:ext>
            </a:extLst>
          </p:cNvPr>
          <p:cNvSpPr>
            <a:spLocks noGrp="1"/>
          </p:cNvSpPr>
          <p:nvPr/>
        </p:nvSpPr>
        <p:spPr>
          <a:xfrm>
            <a:off x="4750147" y="1939230"/>
            <a:ext cx="2129284" cy="208955"/>
          </a:xfrm>
          <a:prstGeom prst="rect">
            <a:avLst/>
          </a:prstGeom>
          <a:noFill/>
        </p:spPr>
        <p:txBody>
          <a:bodyPr wrap="none" lIns="0" tIns="0" rIns="0" bIns="0" anchor="t"/>
          <a:lstStyle/>
          <a:p>
            <a:pPr marL="0" indent="0" algn="l">
              <a:lnSpc>
                <a:spcPct val="104000"/>
              </a:lnSpc>
              <a:buNone/>
            </a:pPr>
            <a:r>
              <a:rPr sz="1300">
                <a:solidFill>
                  <a:srgbClr val="FFFFFF"/>
                </a:solidFill>
                <a:latin typeface="Nunito SemiBold"/>
                <a:ea typeface="Nunito SemiBold"/>
                <a:cs typeface="Nunito SemiBold"/>
              </a:rPr>
              <a:t>AI Assistant Role</a:t>
            </a:r>
          </a:p>
        </p:txBody>
      </p:sp>
      <p:sp>
        <p:nvSpPr>
          <p:cNvPr id="8" name="Text 6">
            <a:extLst>
              <a:ext uri="{FF2B5EF4-FFF2-40B4-BE49-F238E27FC236}">
                <a16:creationId xmlns:a16="http://schemas.microsoft.com/office/drawing/2014/main" id="{169E207E-B3AD-4A06-AB24-100756BF6F20}"/>
              </a:ext>
            </a:extLst>
          </p:cNvPr>
          <p:cNvSpPr>
            <a:spLocks noGrp="1"/>
          </p:cNvSpPr>
          <p:nvPr/>
        </p:nvSpPr>
        <p:spPr>
          <a:xfrm>
            <a:off x="4750118" y="2283143"/>
            <a:ext cx="3875056" cy="1447800"/>
          </a:xfrm>
          <a:prstGeom prst="rect">
            <a:avLst/>
          </a:prstGeom>
          <a:noFill/>
        </p:spPr>
        <p:txBody>
          <a:bodyPr wrap="square" lIns="0" tIns="0" rIns="0" bIns="0" anchor="t">
            <a:normAutofit/>
          </a:bodyPr>
          <a:lstStyle/>
          <a:p>
            <a:pPr marL="342900" indent="-342900" algn="l">
              <a:lnSpc>
                <a:spcPct val="130000"/>
              </a:lnSpc>
              <a:buChar char="•"/>
            </a:pPr>
            <a:r>
              <a:rPr sz="1155">
                <a:solidFill>
                  <a:srgbClr val="F9FAFB"/>
                </a:solidFill>
                <a:latin typeface="PT Sans"/>
                <a:ea typeface="PT Sans"/>
                <a:cs typeface="PT Sans"/>
              </a:rPr>
              <a:t>Scaffolded Flask/Streamlit integration and Docker commands</a:t>
            </a:r>
          </a:p>
          <a:p>
            <a:pPr marL="342900" indent="-342900" algn="l">
              <a:lnSpc>
                <a:spcPct val="130000"/>
              </a:lnSpc>
              <a:buChar char="•"/>
            </a:pPr>
            <a:r>
              <a:rPr sz="1155">
                <a:solidFill>
                  <a:srgbClr val="F9FAFB"/>
                </a:solidFill>
                <a:latin typeface="PT Sans"/>
                <a:ea typeface="PT Sans"/>
                <a:cs typeface="PT Sans"/>
              </a:rPr>
              <a:t>Generated draft code that I checked against course requirements</a:t>
            </a:r>
          </a:p>
          <a:p>
            <a:pPr marL="342900" indent="-342900" algn="l">
              <a:lnSpc>
                <a:spcPct val="130000"/>
              </a:lnSpc>
              <a:buChar char="•"/>
            </a:pPr>
            <a:r>
              <a:rPr sz="1155">
                <a:solidFill>
                  <a:srgbClr val="F9FAFB"/>
                </a:solidFill>
                <a:latin typeface="PT Sans"/>
                <a:ea typeface="PT Sans"/>
                <a:cs typeface="PT Sans"/>
              </a:rPr>
              <a:t>Lesson: pair AI help with tests, logs, and explicit verification</a:t>
            </a:r>
          </a:p>
        </p:txBody>
      </p:sp>
      <p:sp>
        <p:nvSpPr>
          <p:cNvPr id="9" name="Shape 7">
            <a:extLst>
              <a:ext uri="{FF2B5EF4-FFF2-40B4-BE49-F238E27FC236}">
                <a16:creationId xmlns:a16="http://schemas.microsoft.com/office/drawing/2014/main" id="{79AD30D4-1106-4D89-867F-775AA682E424}"/>
              </a:ext>
            </a:extLst>
          </p:cNvPr>
          <p:cNvSpPr>
            <a:spLocks noGrp="1"/>
          </p:cNvSpPr>
          <p:nvPr/>
        </p:nvSpPr>
        <p:spPr>
          <a:xfrm>
            <a:off x="523577" y="3906887"/>
            <a:ext cx="8096845" cy="806425"/>
          </a:xfrm>
          <a:prstGeom prst="roundRect">
            <a:avLst>
              <a:gd name="adj" fmla="val 26438"/>
            </a:avLst>
          </a:prstGeom>
          <a:solidFill>
            <a:srgbClr val="483304"/>
          </a:solidFill>
        </p:spPr>
        <p:txBody>
          <a:bodyPr/>
          <a:lstStyle/>
          <a:p>
            <a:endParaRPr/>
          </a:p>
        </p:txBody>
      </p:sp>
      <p:pic>
        <p:nvPicPr>
          <p:cNvPr id="10" name="Image 0"/>
          <p:cNvPicPr>
            <a:picLocks noChangeAspect="1"/>
          </p:cNvPicPr>
          <p:nvPr/>
        </p:nvPicPr>
        <p:blipFill>
          <a:blip r:embed="rId3"/>
          <a:stretch>
            <a:fillRect/>
          </a:stretch>
        </p:blipFill>
        <p:spPr>
          <a:xfrm>
            <a:off x="665708" y="4122018"/>
            <a:ext cx="177626" cy="142131"/>
          </a:xfrm>
          <a:prstGeom prst="rect">
            <a:avLst/>
          </a:prstGeom>
        </p:spPr>
      </p:pic>
      <p:sp>
        <p:nvSpPr>
          <p:cNvPr id="11" name="Text 8">
            <a:extLst>
              <a:ext uri="{FF2B5EF4-FFF2-40B4-BE49-F238E27FC236}">
                <a16:creationId xmlns:a16="http://schemas.microsoft.com/office/drawing/2014/main" id="{31052C33-67E6-4E5A-ACF3-82BAFF299231}"/>
              </a:ext>
            </a:extLst>
          </p:cNvPr>
          <p:cNvSpPr>
            <a:spLocks noGrp="1"/>
          </p:cNvSpPr>
          <p:nvPr/>
        </p:nvSpPr>
        <p:spPr>
          <a:xfrm>
            <a:off x="985456" y="4077367"/>
            <a:ext cx="7492841" cy="457200"/>
          </a:xfrm>
          <a:prstGeom prst="rect">
            <a:avLst/>
          </a:prstGeom>
          <a:noFill/>
        </p:spPr>
        <p:txBody>
          <a:bodyPr wrap="square" lIns="0" tIns="0" rIns="0" bIns="0" anchor="t">
            <a:normAutofit fontScale="99900"/>
          </a:bodyPr>
          <a:lstStyle/>
          <a:p>
            <a:pPr marL="0" indent="0" algn="l">
              <a:lnSpc>
                <a:spcPct val="130000"/>
              </a:lnSpc>
              <a:buNone/>
            </a:pPr>
            <a:r>
              <a:rPr sz="1155" b="1">
                <a:solidFill>
                  <a:srgbClr val="F9FAFB"/>
                </a:solidFill>
                <a:latin typeface="PT Sans"/>
                <a:ea typeface="PT Sans"/>
                <a:cs typeface="PT Sans"/>
              </a:rPr>
              <a:t>Future Work: scheduled EIA refresh, confidence intervals, SHAP feature importance, and leaner dependency files for faster rebuilds.</a:t>
            </a:r>
          </a:p>
        </p:txBody>
      </p:sp>
    </p:spTree>
    <p:extLst>
      <p:ext uri="{BB962C8B-B14F-4D97-AF65-F5344CB8AC3E}">
        <p14:creationId xmlns:p14="http://schemas.microsoft.com/office/powerpoint/2010/main" val="29771475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2212</Words>
  <Application>Microsoft Macintosh PowerPoint</Application>
  <DocSecurity>0</DocSecurity>
  <PresentationFormat>On-screen Show (16:9)</PresentationFormat>
  <Paragraphs>173</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Calibri</vt:lpstr>
      <vt:lpstr>Consolas</vt:lpstr>
      <vt:lpstr>Nunito Light</vt:lpstr>
      <vt:lpstr>Nunito SemiBold</vt:lpstr>
      <vt:lpstr>PT Sans</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WUMike</cp:lastModifiedBy>
  <cp:revision>1</cp:revision>
  <dcterms:created xsi:type="dcterms:W3CDTF">2026-05-31T23:22:29Z</dcterms:created>
  <dcterms:modified xsi:type="dcterms:W3CDTF">2026-06-02T22:39:43Z</dcterms:modified>
</cp:coreProperties>
</file>