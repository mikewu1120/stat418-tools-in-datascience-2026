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309fa4e10b4452" /><Relationship Type="http://schemas.openxmlformats.org/officeDocument/2006/relationships/extended-properties" Target="/docProps/app.xml" Id="R533c1010ccc846b1" /><Relationship Type="http://schemas.openxmlformats.org/officeDocument/2006/relationships/officeDocument" Target="/ppt/presentation.xml" Id="R56c85933dc484d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02713936304c66"/>
  </p:sldMasterIdLst>
  <p:notesMasterIdLst>
    <p:notesMasterId xmlns:r="http://schemas.openxmlformats.org/officeDocument/2006/relationships" r:id="R2f66858e8fd24801"/>
  </p:notesMasterIdLst>
  <p:sldIdLst>
    <p:sldId xmlns:r="http://schemas.openxmlformats.org/officeDocument/2006/relationships" id="256" r:id="R1cfea22602f043d5"/>
    <p:sldId xmlns:r="http://schemas.openxmlformats.org/officeDocument/2006/relationships" id="257" r:id="R3b92719a485d475c"/>
    <p:sldId xmlns:r="http://schemas.openxmlformats.org/officeDocument/2006/relationships" id="258" r:id="Ra2b9a72cdc994259"/>
    <p:sldId xmlns:r="http://schemas.openxmlformats.org/officeDocument/2006/relationships" id="259" r:id="Rc15b7cb362e04124"/>
    <p:sldId xmlns:r="http://schemas.openxmlformats.org/officeDocument/2006/relationships" id="260" r:id="Rfdfb9b0d53e74a67"/>
    <p:sldId xmlns:r="http://schemas.openxmlformats.org/officeDocument/2006/relationships" id="261" r:id="Re25f89e39fae49ca"/>
    <p:sldId xmlns:r="http://schemas.openxmlformats.org/officeDocument/2006/relationships" id="262" r:id="Rb6df02e0d67b4aa9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2713936304c66" /><Relationship Type="http://schemas.openxmlformats.org/officeDocument/2006/relationships/theme" Target="/ppt/theme/theme1.xml" Id="R86fbedf1a66a47d0" /><Relationship Type="http://schemas.openxmlformats.org/officeDocument/2006/relationships/notesMaster" Target="/ppt/notesMasters/notesMaster1.xml" Id="R2f66858e8fd24801" /><Relationship Type="http://schemas.openxmlformats.org/officeDocument/2006/relationships/presProps" Target="/ppt/presProps.xml" Id="Rce97f972bd68404a" /><Relationship Type="http://schemas.openxmlformats.org/officeDocument/2006/relationships/viewProps" Target="/ppt/viewProps.xml" Id="Rac57ebadaef5486f" /><Relationship Type="http://schemas.openxmlformats.org/officeDocument/2006/relationships/tableStyles" Target="/ppt/tableStyles.xml" Id="Re763296a132441c1" /><Relationship Type="http://schemas.openxmlformats.org/officeDocument/2006/relationships/slide" Target="/ppt/slides/slide1.xml" Id="R1cfea22602f043d5" /><Relationship Type="http://schemas.openxmlformats.org/officeDocument/2006/relationships/slide" Target="/ppt/slides/slide2.xml" Id="R3b92719a485d475c" /><Relationship Type="http://schemas.openxmlformats.org/officeDocument/2006/relationships/slide" Target="/ppt/slides/slide3.xml" Id="Ra2b9a72cdc994259" /><Relationship Type="http://schemas.openxmlformats.org/officeDocument/2006/relationships/slide" Target="/ppt/slides/slide4.xml" Id="Rc15b7cb362e04124" /><Relationship Type="http://schemas.openxmlformats.org/officeDocument/2006/relationships/slide" Target="/ppt/slides/slide5.xml" Id="Rfdfb9b0d53e74a67" /><Relationship Type="http://schemas.openxmlformats.org/officeDocument/2006/relationships/slide" Target="/ppt/slides/slide6.xml" Id="Re25f89e39fae49ca" /><Relationship Type="http://schemas.openxmlformats.org/officeDocument/2006/relationships/slide" Target="/ppt/slides/slide7.xml" Id="Rb6df02e0d67b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958e792feab4f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5efad684874a32" /><Relationship Type="http://schemas.openxmlformats.org/officeDocument/2006/relationships/notesMaster" Target="/ppt/notesMasters/notesMaster1.xml" Id="R290e2587f2c641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05fea110ef4cd1" /><Relationship Type="http://schemas.openxmlformats.org/officeDocument/2006/relationships/notesMaster" Target="/ppt/notesMasters/notesMaster1.xml" Id="R00ef248d2a0d4f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97238fe7354b35" /><Relationship Type="http://schemas.openxmlformats.org/officeDocument/2006/relationships/notesMaster" Target="/ppt/notesMasters/notesMaster1.xml" Id="R9919656af6394d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ad26fe65194bd6" /><Relationship Type="http://schemas.openxmlformats.org/officeDocument/2006/relationships/notesMaster" Target="/ppt/notesMasters/notesMaster1.xml" Id="R8f635902c8fb4d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a1e89768654bd4" /><Relationship Type="http://schemas.openxmlformats.org/officeDocument/2006/relationships/notesMaster" Target="/ppt/notesMasters/notesMaster1.xml" Id="Re9da005432c94f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6fd2766632498b" /><Relationship Type="http://schemas.openxmlformats.org/officeDocument/2006/relationships/notesMaster" Target="/ppt/notesMasters/notesMaster1.xml" Id="R34a6ef70db4747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b4c51ff28d4f09" /><Relationship Type="http://schemas.openxmlformats.org/officeDocument/2006/relationships/notesMaster" Target="/ppt/notesMasters/notesMaster1.xml" Id="R7d35efe2114f46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698f79aed24e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b581edb1a49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ddeb01381409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6030c615645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cf1bb85134c5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34786f082451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b733f0a0b4c1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47623e3baf4ea4" /></Relationships>
</file>

<file path=ppt/slideLayouts/slideLayout2.xml><?xml version="1.0" encoding="utf-8"?>
<p:sldLayout xmlns:p="http://schemas.openxmlformats.org/presentationml/2006/main">
  <p:cSld name="Slide 7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>
  <p:cSld name="Slide 2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>
  <p:cSld name="Slide 6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>
  <p:cSld name="Slide 1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6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Slide 5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>
  <p:cSld name="Slide 4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>
  <p:cSld name="Slide 3 master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323ba6dc1ae4b87" /><Relationship Type="http://schemas.openxmlformats.org/officeDocument/2006/relationships/slideLayout" Target="/ppt/slideLayouts/slideLayout2.xml" Id="R6d492b16581549d2" /><Relationship Type="http://schemas.openxmlformats.org/officeDocument/2006/relationships/slideLayout" Target="/ppt/slideLayouts/slideLayout3.xml" Id="R61a1f5160d024dd8" /><Relationship Type="http://schemas.openxmlformats.org/officeDocument/2006/relationships/slideLayout" Target="/ppt/slideLayouts/slideLayout4.xml" Id="R0039189d482c4104" /><Relationship Type="http://schemas.openxmlformats.org/officeDocument/2006/relationships/slideLayout" Target="/ppt/slideLayouts/slideLayout5.xml" Id="R276f21fd5cc945a3" /><Relationship Type="http://schemas.openxmlformats.org/officeDocument/2006/relationships/slideLayout" Target="/ppt/slideLayouts/slideLayout6.xml" Id="R239fc68895d1416e" /><Relationship Type="http://schemas.openxmlformats.org/officeDocument/2006/relationships/slideLayout" Target="/ppt/slideLayouts/slideLayout7.xml" Id="Rd04edda6fb9a4f9d" /><Relationship Type="http://schemas.openxmlformats.org/officeDocument/2006/relationships/slideLayout" Target="/ppt/slideLayouts/slideLayout8.xml" Id="R9215b15a62f34adc" /><Relationship Type="http://schemas.openxmlformats.org/officeDocument/2006/relationships/slideLayout" Target="/ppt/slideLayouts/slideLayout9.xml" Id="Rebac9eeab682454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492b16581549d2"/>
    <p:sldLayoutId xmlns:r="http://schemas.openxmlformats.org/officeDocument/2006/relationships" id="2147483650" r:id="R61a1f5160d024dd8"/>
    <p:sldLayoutId xmlns:r="http://schemas.openxmlformats.org/officeDocument/2006/relationships" id="2147483651" r:id="R0039189d482c4104"/>
    <p:sldLayoutId xmlns:r="http://schemas.openxmlformats.org/officeDocument/2006/relationships" id="2147483652" r:id="R276f21fd5cc945a3"/>
    <p:sldLayoutId xmlns:r="http://schemas.openxmlformats.org/officeDocument/2006/relationships" id="2147483653" r:id="R239fc68895d1416e"/>
    <p:sldLayoutId xmlns:r="http://schemas.openxmlformats.org/officeDocument/2006/relationships" id="2147483654" r:id="Rd04edda6fb9a4f9d"/>
    <p:sldLayoutId xmlns:r="http://schemas.openxmlformats.org/officeDocument/2006/relationships" id="2147483655" r:id="R9215b15a62f34adc"/>
    <p:sldLayoutId xmlns:r="http://schemas.openxmlformats.org/officeDocument/2006/relationships" id="2147483656" r:id="Rebac9eeab6824548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619d7456b6c40d8" /><Relationship Type="http://schemas.openxmlformats.org/officeDocument/2006/relationships/image" Target="/ppt/media/image.png" Id="R95b28c1fb9b74550" /><Relationship Type="http://schemas.openxmlformats.org/officeDocument/2006/relationships/notesSlide" Target="/ppt/notesSlides/notesSlide1.xml" Id="R91f94aa143674f07" /><Relationship Id="rIdStreamlitApp" Type="http://schemas.openxmlformats.org/officeDocument/2006/relationships/hyperlink" Target="https://fuel-price-streamlit-oluqiqxkmq-uw.a.run.app" TargetMode="External" /><Relationship Id="rIdFlaskApi" Type="http://schemas.openxmlformats.org/officeDocument/2006/relationships/hyperlink" Target="https://fuel-price-api-oluqiqxkmq-uw.a.run.app" TargetMode="External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d5fc34f39294eba" /><Relationship Type="http://schemas.openxmlformats.org/officeDocument/2006/relationships/image" Target="/ppt/media/image2.png" Id="R1ec9fe50c2424130" /><Relationship Type="http://schemas.openxmlformats.org/officeDocument/2006/relationships/notesSlide" Target="/ppt/notesSlides/notesSlide2.xml" Id="R14ecfce9526c45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733a4fb227b74c3e" /><Relationship Type="http://schemas.openxmlformats.org/officeDocument/2006/relationships/image" Target="/ppt/media/image3.png" Id="R5fc1d392e44d4f12" /><Relationship Type="http://schemas.openxmlformats.org/officeDocument/2006/relationships/image" Target="/ppt/media/image4.png" Id="R2eac6c5998184c05" /><Relationship Type="http://schemas.openxmlformats.org/officeDocument/2006/relationships/notesSlide" Target="/ppt/notesSlides/notesSlide3.xml" Id="Rf768e7d73ff44f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3411f2fae844454" /><Relationship Type="http://schemas.openxmlformats.org/officeDocument/2006/relationships/image" Target="/ppt/media/image5.png" Id="R689e577dd59e4e36" /><Relationship Type="http://schemas.openxmlformats.org/officeDocument/2006/relationships/notesSlide" Target="/ppt/notesSlides/notesSlide4.xml" Id="R91583e125d5d4e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1b7df20ed74e66" /><Relationship Type="http://schemas.openxmlformats.org/officeDocument/2006/relationships/image" Target="/ppt/media/image6.png" Id="R36866db65a1e4024" /><Relationship Type="http://schemas.openxmlformats.org/officeDocument/2006/relationships/notesSlide" Target="/ppt/notesSlides/notesSlide5.xml" Id="R1ef1c8f2db5f4f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bea7264c37a4e2b" /><Relationship Type="http://schemas.openxmlformats.org/officeDocument/2006/relationships/image" Target="/ppt/media/image7.png" Id="R3b04980f17ef4e06" /><Relationship Type="http://schemas.openxmlformats.org/officeDocument/2006/relationships/image" Target="/ppt/media/image8.png" Id="Ra93d68eaf6ae4ab5" /><Relationship Type="http://schemas.openxmlformats.org/officeDocument/2006/relationships/hyperlink" Target="https://fuel-price-streamlit-oluqiqxkmq-uw.a.run.app/" TargetMode="External" Id="R41f64085554f441d" /><Relationship Type="http://schemas.openxmlformats.org/officeDocument/2006/relationships/notesSlide" Target="/ppt/notesSlides/notesSlide6.xml" Id="R8462acf36c5846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960e1d8569480b" /><Relationship Type="http://schemas.openxmlformats.org/officeDocument/2006/relationships/image" Target="/ppt/media/image9.png" Id="Raeb3da0a54e245bd" /><Relationship Type="http://schemas.openxmlformats.org/officeDocument/2006/relationships/notesSlide" Target="/ppt/notesSlides/notesSlide7.xml" Id="R499635db28cc4b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28c1fb9b745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3D98E6BB-317B-4003-BB58-434B8E92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94779"/>
            <a:ext cx="1845469" cy="226740"/>
          </a:xfrm>
          <a:prstGeom xmlns:a="http://schemas.openxmlformats.org/drawingml/2006/main" prst="roundRect">
            <a:avLst>
              <a:gd name="adj" fmla="val 67304"/>
            </a:avLst>
          </a:prstGeom>
          <a:solidFill xmlns:a="http://schemas.openxmlformats.org/drawingml/2006/main">
            <a:srgbClr val="48330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AB1D993-7719-4E8C-A33E-58C3BE01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52" y="532879"/>
            <a:ext cx="2150120" cy="150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STAT 418 · FINAL PROJECT · JUNE 2026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59339B7-73BA-4B64-BA62-08E64EBA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764753"/>
            <a:ext cx="5119390" cy="3740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3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U.S. Retail Gasoline Price Forecast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6E545FD-70BB-4EF1-B0B3-F11F2F06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1300832"/>
            <a:ext cx="4667845" cy="5645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10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 deployed data science application that collects weekly EIA gasoline prices, trains two forecasting models, serves predictions through Flask, and presents them in an interactive Streamlit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E223D5D-6499-4B2F-BFAD-0D40E77A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539" y="2050554"/>
            <a:ext cx="1926357" cy="3357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26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1,729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53CAE4-CF77-4746-965F-9C7E2419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70" y="2530897"/>
            <a:ext cx="1496095" cy="187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1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Weekly Observations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FFF4FD6-14FC-432A-83CF-D8527016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2782714"/>
            <a:ext cx="2266355" cy="1881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3000"/>
              </a:lnSpc>
              <a:buNone/>
            </a:pPr>
            <a:r>
              <a:rPr sz="10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1993–2026 EIA data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6482516-C78D-4A3B-BE84-05C1BA22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4955" y="2050554"/>
            <a:ext cx="1926431" cy="419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33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2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F23C6BF8-E76D-4EF3-9886-6762A978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61" y="2614836"/>
            <a:ext cx="1496095" cy="187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1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Models Served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428FF3B-F5EC-4234-881B-AD78BD53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994" y="2866653"/>
            <a:ext cx="2266429" cy="1881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3000"/>
              </a:lnSpc>
              <a:buNone/>
            </a:pPr>
            <a:r>
              <a:rPr sz="10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XGBoost &amp; SARIMA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A94D530-05DA-46F1-8600-6C929153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210" y="3334569"/>
            <a:ext cx="1926431" cy="4196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33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2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0754AC88-9DFE-40BC-B70C-34A282B1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415" y="3898850"/>
            <a:ext cx="1496095" cy="1870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11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Live Services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FA10B519-0372-4509-BF47-CC756D9B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248" y="4150668"/>
            <a:ext cx="2266429" cy="1881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3000"/>
              </a:lnSpc>
              <a:buNone/>
            </a:pPr>
            <a:r>
              <a:rPr sz="10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Flask API + Streamlit UI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A4603DD-F8D1-40F8-97CC-3804223A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352925"/>
            <a:ext cx="5125045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863" b="1">
                <a:solidFill>
                  <a:srgbClr val="D0D5DD"/>
                </a:solidFill>
                <a:latin typeface="PT Sans"/>
                <a:ea typeface="PT Sans"/>
                <a:cs typeface="PT Sans"/>
              </a:rPr>
              <a:t>Mike Wu</a:t>
            </a:r>
          </a:p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863" b="1">
                <a:solidFill>
                  <a:srgbClr val="D0D5DD"/>
                </a:solidFill>
                <a:latin typeface="PT Sans"/>
                <a:ea typeface="PT Sans"/>
                <a:cs typeface="PT Sans"/>
                <a:hlinkClick xmlns:r="http://schemas.openxmlformats.org/officeDocument/2006/relationships" r:id="rIdStreamlitApp"/>
              </a:rPr>
              <a:t>Streamlit app: https://fuel-price-streamlit-oluqiqxkmq-uw.a.run.app</a:t>
            </a:r>
          </a:p>
          <a:p xmlns:a="http://schemas.openxmlformats.org/drawingml/2006/main">
            <a:pPr marL="0" indent="0" algn="l">
              <a:lnSpc>
                <a:spcPct val="123000"/>
              </a:lnSpc>
              <a:buNone/>
            </a:pPr>
            <a:r>
              <a:rPr sz="863" b="1">
                <a:solidFill>
                  <a:srgbClr val="D0D5DD"/>
                </a:solidFill>
                <a:latin typeface="PT Sans"/>
                <a:ea typeface="PT Sans"/>
                <a:cs typeface="PT Sans"/>
                <a:hlinkClick xmlns:r="http://schemas.openxmlformats.org/officeDocument/2006/relationships" r:id="rIdFlaskApi"/>
              </a:rPr>
              <a:t>Flask API: https://fuel-price-api-oluqiqxkmq-uw.a.run.app</a:t>
            </a:r>
          </a:p>
        </p:txBody>
      </p:sp>
    </p:spTree>
    <p:extLst>
      <p:ext uri="{BB962C8B-B14F-4D97-AF65-F5344CB8AC3E}">
        <p14:creationId xmlns:p14="http://schemas.microsoft.com/office/powerpoint/2010/main" val="7045270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9fe50c2424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317F234B-31A5-42B7-849A-2859B675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94109"/>
            <a:ext cx="606549" cy="195783"/>
          </a:xfrm>
          <a:prstGeom xmlns:a="http://schemas.openxmlformats.org/drawingml/2006/main" prst="roundRect">
            <a:avLst>
              <a:gd name="adj" fmla="val 6419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F4E9C65-E78A-4131-BE07-A823DF3D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08" y="535037"/>
            <a:ext cx="919088" cy="113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65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MOTIVATION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2010CBF-8BCD-4695-88DE-B95DCE9F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719212"/>
            <a:ext cx="4667845" cy="6158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Fuel Prices Are Volatile Enough to Make Short-Term Forecasting Useful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611887B-3EFB-4DC5-8ECA-28F3A7B1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497285"/>
            <a:ext cx="1601614" cy="2303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1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$0.949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AE62A8D-C4F8-4E31-833E-C86CABD7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45" y="1834902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Lowest Historical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A5124F4-AD05-41B8-978C-E25CDC1B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2032918"/>
            <a:ext cx="2288084" cy="1423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per gallon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5E15EEA-3A77-48D6-9EF6-1755E538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462" y="1497285"/>
            <a:ext cx="1601688" cy="2303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1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$5.107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E3A4505-BE28-416A-8373-B97A2EB8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307" y="1834902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Highest Historical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986C79B-8A8D-488C-AC62-577C28A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3265" y="2032918"/>
            <a:ext cx="2288158" cy="1423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per gallon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08486E2-BFE6-4334-8205-543BDE78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581" y="2374181"/>
            <a:ext cx="1601688" cy="2303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83000"/>
              </a:lnSpc>
              <a:buNone/>
            </a:pPr>
            <a:r>
              <a:rPr sz="1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$4.621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0813D09-6E60-4667-A582-E59FD1A8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426" y="2711797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Latest Observation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B007E6A-3A43-457D-BBD1-54BD05DB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384" y="2909813"/>
            <a:ext cx="2288158" cy="1423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May 18, 2026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54881213-10F2-4F37-BBBA-50FC7FE2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3134618"/>
            <a:ext cx="4667845" cy="720700"/>
          </a:xfrm>
          <a:prstGeom xmlns:a="http://schemas.openxmlformats.org/drawingml/2006/main" prst="roundRect">
            <a:avLst>
              <a:gd name="adj" fmla="val 9516"/>
            </a:avLst>
          </a:prstGeom>
          <a:solidFill xmlns:a="http://schemas.openxmlformats.org/drawingml/2006/main">
            <a:srgbClr val="00002E">
              <a:alpha val="75000"/>
            </a:srgbClr>
          </a:solidFill>
          <a:ln xmlns:a="http://schemas.openxmlformats.org/drawingml/2006/main" w="14288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A983453E-AF17-44B7-98BC-66FEE71B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90" y="3134618"/>
            <a:ext cx="57150" cy="720700"/>
          </a:xfrm>
          <a:prstGeom xmlns:a="http://schemas.openxmlformats.org/drawingml/2006/main" prst="roundRect">
            <a:avLst>
              <a:gd name="adj" fmla="val 274880"/>
            </a:avLst>
          </a:prstGeom>
          <a:solidFill xmlns:a="http://schemas.openxmlformats.org/drawingml/2006/main">
            <a:srgbClr val="F2B4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847ABFB-6F1D-4B52-B26C-B181711C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3253606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User Problem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315D29E-0075-4DBF-912E-D4CCC5F1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3451622"/>
            <a:ext cx="4387007" cy="284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Price movement is hard to reason about from raw weekly tables. A useful class demo needs both an interface and a deployed model endpoint.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A5D1CA0-C9A5-43B7-8165-53A7EBDC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3928616"/>
            <a:ext cx="4667845" cy="720700"/>
          </a:xfrm>
          <a:prstGeom xmlns:a="http://schemas.openxmlformats.org/drawingml/2006/main" prst="roundRect">
            <a:avLst>
              <a:gd name="adj" fmla="val 9516"/>
            </a:avLst>
          </a:prstGeom>
          <a:solidFill xmlns:a="http://schemas.openxmlformats.org/drawingml/2006/main">
            <a:srgbClr val="00002E">
              <a:alpha val="75000"/>
            </a:srgbClr>
          </a:solidFill>
          <a:ln xmlns:a="http://schemas.openxmlformats.org/drawingml/2006/main" w="14288">
            <a:solidFill>
              <a:srgbClr val="D742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CA15C8B-69B6-47EA-9FC3-249ADA18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90" y="3928616"/>
            <a:ext cx="57150" cy="720700"/>
          </a:xfrm>
          <a:prstGeom xmlns:a="http://schemas.openxmlformats.org/drawingml/2006/main" prst="roundRect">
            <a:avLst>
              <a:gd name="adj" fmla="val 274880"/>
            </a:avLst>
          </a:prstGeom>
          <a:solidFill xmlns:a="http://schemas.openxmlformats.org/drawingml/2006/main">
            <a:srgbClr val="D742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362B334-266B-4DF0-A129-D28E9AB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4047604"/>
            <a:ext cx="1232074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Project Objective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B90751A-001A-4635-9ABD-AEC504FB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428" y="4245620"/>
            <a:ext cx="4387007" cy="2847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3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Make model choice and forecast horizon interactive. Deploy the API and app separately so the architecture matches production patterns.</a:t>
            </a:r>
          </a:p>
        </p:txBody>
      </p:sp>
    </p:spTree>
    <p:extLst>
      <p:ext uri="{BB962C8B-B14F-4D97-AF65-F5344CB8AC3E}">
        <p14:creationId xmlns:p14="http://schemas.microsoft.com/office/powerpoint/2010/main" val="17149733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AD9EC8-679D-4BA4-AA2E-C69473F2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89" y="205680"/>
            <a:ext cx="340370" cy="86171"/>
          </a:xfrm>
          <a:prstGeom xmlns:a="http://schemas.openxmlformats.org/drawingml/2006/main" prst="roundRect">
            <a:avLst>
              <a:gd name="adj" fmla="val 72922"/>
            </a:avLst>
          </a:prstGeom>
          <a:noFill xmlns:a="http://schemas.openxmlformats.org/drawingml/2006/main"/>
          <a:ln xmlns:a="http://schemas.openxmlformats.org/drawingml/2006/main" w="4763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7AFE02-719D-4445-91D5-7380CE42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54" y="226144"/>
            <a:ext cx="725239" cy="452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buNone/>
            </a:pPr>
            <a:r>
              <a:rPr sz="30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DATA PIPELINE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A24230C-9B56-4248-A0B8-E92BD2AF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89" y="299145"/>
            <a:ext cx="4026991" cy="1540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EIA Weekly Gasoline Prices Become Model-Ready Lag Features</a:t>
            </a:r>
          </a:p>
        </p:txBody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1d392e44d4f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4882" y="480640"/>
            <a:ext cx="6034236" cy="2380506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5FF6E6-110E-459C-A45D-43083703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4990" y="1305078"/>
            <a:ext cx="1428995" cy="1536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Collect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B99CD92-BB39-49EB-BBF7-10330CF1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590" y="1505144"/>
            <a:ext cx="1200395" cy="264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70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EIA Open Data API; synthetic fallback for CI/local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CBC07BD-FE0D-4AE6-948E-1CF47D0A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363" y="1571923"/>
            <a:ext cx="1428995" cy="1536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Clean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69C0109-B560-4F38-922F-959A04F7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963" y="1771989"/>
            <a:ext cx="1200395" cy="264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70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Sort by period, coerce price, dedupe weeks, save raw CSV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0EF3E2D-9774-4783-85DF-63DB9F88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156" y="1305078"/>
            <a:ext cx="1428995" cy="1536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4000"/>
              </a:lnSpc>
              <a:buNone/>
            </a:pPr>
            <a:r>
              <a:rPr sz="9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Model Frame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C059FB1-B66D-44EF-93B4-0A02DD17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756" y="1505144"/>
            <a:ext cx="1200395" cy="1763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70000"/>
              </a:lnSpc>
              <a:buNone/>
            </a:pPr>
            <a:r>
              <a:rPr sz="8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Create lags 1/2/4/8/52, month and ISO week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772065A-6E59-4D6C-BC16-A1B92228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89" y="2881759"/>
            <a:ext cx="8882211" cy="565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buNone/>
            </a:pPr>
            <a:r>
              <a:rPr sz="4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The model intentionally keeps the feature set explainable: lagged prices carry recent level and momentum; calendar variables capture seasonal weekly structure.</a:t>
            </a:r>
          </a:p>
        </p:txBody>
      </p:sp>
      <p:pic>
        <p:nvPicPr>
          <p:cNvPr id="1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c6c5998184c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1789" y="2979539"/>
            <a:ext cx="3890963" cy="220481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5B3C608-B3CC-4A50-9490-5D21D6D2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827" y="3949005"/>
            <a:ext cx="1073200" cy="77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4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Feature Engineering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B2742319-011F-4F1D-8B0A-0A295868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827" y="4044330"/>
            <a:ext cx="2934146" cy="1824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90000"/>
              </a:lnSpc>
              <a:buChar char="•"/>
            </a:pPr>
            <a:r>
              <a:rPr sz="4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Lags 1, 2, 4, 8, 52 — recent level, momentum, and yearly seasonality</a:t>
            </a:r>
          </a:p>
          <a:p xmlns:a="http://schemas.openxmlformats.org/drawingml/2006/main">
            <a:pPr marL="342900" indent="-342900" algn="l">
              <a:lnSpc>
                <a:spcPct val="90000"/>
              </a:lnSpc>
              <a:buChar char="•"/>
            </a:pPr>
            <a:r>
              <a:rPr sz="4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Month and ISO week — calendar-based seasonal structure</a:t>
            </a:r>
          </a:p>
          <a:p xmlns:a="http://schemas.openxmlformats.org/drawingml/2006/main">
            <a:pPr marL="342900" indent="-342900" algn="l">
              <a:lnSpc>
                <a:spcPct val="90000"/>
              </a:lnSpc>
              <a:buChar char="•"/>
            </a:pPr>
            <a:r>
              <a:rPr sz="4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1,729 rows spanning </a:t>
            </a:r>
            <a:r>
              <a:rPr sz="400" b="1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April 5, 1993 to May 18, 2026</a:t>
            </a:r>
          </a:p>
        </p:txBody>
      </p:sp>
    </p:spTree>
    <p:extLst>
      <p:ext uri="{BB962C8B-B14F-4D97-AF65-F5344CB8AC3E}">
        <p14:creationId xmlns:p14="http://schemas.microsoft.com/office/powerpoint/2010/main" val="8605588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39A77CC-9ACF-42C9-BB23-CC271E17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95151"/>
            <a:ext cx="1277987" cy="309711"/>
          </a:xfrm>
          <a:prstGeom xmlns:a="http://schemas.openxmlformats.org/drawingml/2006/main" prst="roundRect">
            <a:avLst>
              <a:gd name="adj" fmla="val 5796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ED531F-30BD-471D-9CD5-46CCA278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08" y="554310"/>
            <a:ext cx="1527125" cy="1913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90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MODEL EVALUATION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F6BB60A-C587-4552-B4CD-8D58A2DE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864691"/>
            <a:ext cx="8339435" cy="4400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7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XGBoost Won the 52-Week Holdout Comparison</a:t>
            </a:r>
          </a:p>
        </p:txBody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e577dd59e4e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77" y="1697310"/>
            <a:ext cx="3865959" cy="2782714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F3E6AD-3499-43B9-B645-368919F2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226" y="1678632"/>
            <a:ext cx="2580010" cy="219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XGBoost — Default Model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4CBC5D2-1908-4106-A50A-C2FFE9AB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226" y="2048173"/>
            <a:ext cx="3865959" cy="7181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Recursive multi-step forecast from lag features plus month and week-of-year. Recent lags explain more of the short-term signal than a univariate seasonal structure alone.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20D6F7A-36B2-4E33-ADA4-72AF2BA8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226" y="2915915"/>
            <a:ext cx="2217316" cy="219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SARIMA — Baseline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3D6CDA9-078B-4D82-BEAF-1661A56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226" y="3285455"/>
            <a:ext cx="3865959" cy="7181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Seasonal weekly time-series baseline: SARIMA(1,1,1)(1,1,1,52). Both models are available in the app, but XGBoost's lower holdout error makes it the default.</a:t>
            </a:r>
          </a:p>
        </p:txBody>
      </p:sp>
    </p:spTree>
    <p:extLst>
      <p:ext uri="{BB962C8B-B14F-4D97-AF65-F5344CB8AC3E}">
        <p14:creationId xmlns:p14="http://schemas.microsoft.com/office/powerpoint/2010/main" val="8235734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099F9AA-1E1F-46B4-A072-E5710A22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379288"/>
            <a:ext cx="593006" cy="155004"/>
          </a:xfrm>
          <a:prstGeom xmlns:a="http://schemas.openxmlformats.org/drawingml/2006/main" prst="roundRect">
            <a:avLst>
              <a:gd name="adj" fmla="val 69406"/>
            </a:avLst>
          </a:prstGeom>
          <a:noFill xmlns:a="http://schemas.openxmlformats.org/drawingml/2006/main"/>
          <a:ln xmlns:a="http://schemas.openxmlformats.org/drawingml/2006/main" w="4763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7EDFE3-AAD3-4ED0-ABFB-56A81BE0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13" y="410914"/>
            <a:ext cx="933227" cy="91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55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ARCHITECTURE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6684B95-3793-4076-B6F2-856966B6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555724"/>
            <a:ext cx="7257604" cy="2636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65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The App and Model API Are Deployed as Separate Cloud Run Services</a:t>
            </a:r>
          </a:p>
        </p:txBody>
      </p:sp>
      <p:pic>
        <p:nvPicPr>
          <p:cNvPr id="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66db65a1e40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35882" y="899889"/>
            <a:ext cx="5272236" cy="2273498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5AD0A51-0282-4B71-8EA2-D9B82DAF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60" y="2746649"/>
            <a:ext cx="1582851" cy="14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50">
                <a:solidFill>
                  <a:srgbClr val="000000"/>
                </a:solidFill>
                <a:latin typeface="Nunito SemiBold"/>
                <a:ea typeface="Nunito SemiBold"/>
                <a:cs typeface="Nunito SemiBold"/>
              </a:rPr>
              <a:t>Cloud Run Services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253F777-CF66-430A-B29B-86EB167D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60" y="2220371"/>
            <a:ext cx="1582851" cy="14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50">
                <a:solidFill>
                  <a:srgbClr val="000000"/>
                </a:solidFill>
                <a:latin typeface="Nunito SemiBold"/>
                <a:ea typeface="Nunito SemiBold"/>
                <a:cs typeface="Nunito SemiBold"/>
              </a:rPr>
              <a:t>Model Files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F6A3FDB-00D2-43D6-BBF1-B76E3358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60" y="1699409"/>
            <a:ext cx="1582851" cy="14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50">
                <a:solidFill>
                  <a:srgbClr val="000000"/>
                </a:solidFill>
                <a:latin typeface="Nunito SemiBold"/>
                <a:ea typeface="Nunito SemiBold"/>
                <a:cs typeface="Nunito SemiBold"/>
              </a:rPr>
              <a:t>Raw CSV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563B224-C21C-4F91-A042-A60C0455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60" y="1173131"/>
            <a:ext cx="1582851" cy="1406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50">
                <a:solidFill>
                  <a:srgbClr val="000000"/>
                </a:solidFill>
                <a:latin typeface="Nunito SemiBold"/>
                <a:ea typeface="Nunito SemiBold"/>
                <a:cs typeface="Nunito SemiBold"/>
              </a:rPr>
              <a:t>EIA API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CA84A72-E25E-4EEB-AA30-15074B2C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3233812"/>
            <a:ext cx="8635752" cy="11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EIA data flows through a raw CSV snapshot into trained model artifacts, served by a Flask API and consumed by a separate Streamlit UI — both running on Cloud Run.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B46970A-3483-4DE3-A95A-14044F33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3462561"/>
            <a:ext cx="1626245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Why Separate Services?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1E35EFB-681A-4D29-9D43-002F0436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724" y="3648001"/>
            <a:ext cx="3979962" cy="514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07000"/>
              </a:lnSpc>
              <a:buChar char="•"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UI can change independently from the model API</a:t>
            </a:r>
          </a:p>
          <a:p xmlns:a="http://schemas.openxmlformats.org/drawingml/2006/main">
            <a:pPr marL="342900" indent="-342900" algn="l">
              <a:lnSpc>
                <a:spcPct val="107000"/>
              </a:lnSpc>
              <a:buChar char="•"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API testable directly with </a:t>
            </a:r>
            <a:r>
              <a:rPr sz="7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curl</a:t>
            </a: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or Postman</a:t>
            </a:r>
          </a:p>
          <a:p xmlns:a="http://schemas.openxmlformats.org/drawingml/2006/main">
            <a:pPr marL="342900" indent="-342900" algn="l">
              <a:lnSpc>
                <a:spcPct val="107000"/>
              </a:lnSpc>
              <a:buChar char="•"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Artifact Registry stores container images</a:t>
            </a:r>
          </a:p>
          <a:p xmlns:a="http://schemas.openxmlformats.org/drawingml/2006/main">
            <a:pPr marL="342900" indent="-342900" algn="l">
              <a:lnSpc>
                <a:spcPct val="107000"/>
              </a:lnSpc>
              <a:buChar char="•"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API memory set to 1 Gi for SARIMA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3C97FF3-94A0-45F6-BE48-E22D7404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077" y="3462561"/>
            <a:ext cx="1511871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Endpoints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FAD3976-CB88-4FD1-BC47-732BB453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077" y="3654772"/>
            <a:ext cx="1963117" cy="498351"/>
          </a:xfrm>
          <a:prstGeom xmlns:a="http://schemas.openxmlformats.org/drawingml/2006/main" prst="roundRect">
            <a:avLst>
              <a:gd name="adj" fmla="val 26984"/>
            </a:avLst>
          </a:prstGeom>
          <a:solidFill xmlns:a="http://schemas.openxmlformats.org/drawingml/2006/main">
            <a:srgbClr val="00002E"/>
          </a:solidFill>
          <a:ln xmlns:a="http://schemas.openxmlformats.org/drawingml/2006/main" w="9525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64DC625-CDA8-419B-880F-3BA6F182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96" y="3753892"/>
            <a:ext cx="1054671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/health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3C2CDF6-BBC7-4F0E-81F4-D5F819F4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96" y="3939332"/>
            <a:ext cx="1764878" cy="11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Liveness check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77B8F2D-912F-4F07-8A0D-6AF7AAAA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847" y="3654772"/>
            <a:ext cx="1963192" cy="498351"/>
          </a:xfrm>
          <a:prstGeom xmlns:a="http://schemas.openxmlformats.org/drawingml/2006/main" prst="roundRect">
            <a:avLst>
              <a:gd name="adj" fmla="val 26984"/>
            </a:avLst>
          </a:prstGeom>
          <a:solidFill xmlns:a="http://schemas.openxmlformats.org/drawingml/2006/main">
            <a:srgbClr val="00002E"/>
          </a:solidFill>
          <a:ln xmlns:a="http://schemas.openxmlformats.org/drawingml/2006/main" w="9525">
            <a:solidFill>
              <a:srgbClr val="D742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0992D9A-E057-42D4-8914-67FF5B68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66" y="3753892"/>
            <a:ext cx="1054671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/metadata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38129D8E-91C7-48C8-A345-60F6D9E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966" y="3939332"/>
            <a:ext cx="1764953" cy="11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Model info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B2761A1-E6D5-4FA8-8CF8-69779C17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077" y="4206776"/>
            <a:ext cx="3979962" cy="498351"/>
          </a:xfrm>
          <a:prstGeom xmlns:a="http://schemas.openxmlformats.org/drawingml/2006/main" prst="roundRect">
            <a:avLst>
              <a:gd name="adj" fmla="val 26984"/>
            </a:avLst>
          </a:prstGeom>
          <a:solidFill xmlns:a="http://schemas.openxmlformats.org/drawingml/2006/main">
            <a:srgbClr val="00002E"/>
          </a:solidFill>
          <a:ln xmlns:a="http://schemas.openxmlformats.org/drawingml/2006/main" w="9525">
            <a:solidFill>
              <a:srgbClr val="DD78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381D479-CFC3-4854-BAC0-4653101E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96" y="4305895"/>
            <a:ext cx="1054671" cy="1317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/predict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DCC7116B-50B8-4170-851D-CD1CB2C2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5196" y="4491335"/>
            <a:ext cx="3781723" cy="11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7000"/>
              </a:lnSpc>
              <a:buNone/>
            </a:pPr>
            <a:r>
              <a:rPr sz="7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Forecast JSON</a:t>
            </a:r>
          </a:p>
        </p:txBody>
      </p:sp>
    </p:spTree>
    <p:extLst>
      <p:ext uri="{BB962C8B-B14F-4D97-AF65-F5344CB8AC3E}">
        <p14:creationId xmlns:p14="http://schemas.microsoft.com/office/powerpoint/2010/main" val="17792985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4980f17ef4e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34290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A2338C8B-52B6-4EDE-B908-2CE82932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555501"/>
            <a:ext cx="512415" cy="180008"/>
          </a:xfrm>
          <a:prstGeom xmlns:a="http://schemas.openxmlformats.org/drawingml/2006/main" prst="roundRect">
            <a:avLst>
              <a:gd name="adj" fmla="val 648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3ED3480-CFBF-4EB1-8C3A-72A97C20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443" y="594196"/>
            <a:ext cx="833884" cy="1026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60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LIVE DEMO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053F719-A551-49F4-975A-B7D2BA1C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760735"/>
            <a:ext cx="4667845" cy="5719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8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The Demo Proves the UI and API Are Communicating Live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419C939-1D29-40E4-8970-C8E1810E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1427485"/>
            <a:ext cx="194444" cy="121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750">
                <a:solidFill>
                  <a:srgbClr val="FFFFFF"/>
                </a:solidFill>
                <a:latin typeface="Nunito Light"/>
                <a:ea typeface="Nunito Light"/>
                <a:cs typeface="Nunito Light"/>
              </a:rPr>
              <a:t>01</a:t>
            </a: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E444F4C-06B5-41EE-92F4-A3879D79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1578397"/>
            <a:ext cx="466784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42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78FD59E-E7BA-4714-B0E2-56D365F3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1655564"/>
            <a:ext cx="1144042" cy="142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Choose Method</a:t>
            </a: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1354DDC-F850-4632-A3F3-F9DAB902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1836390"/>
            <a:ext cx="4667845" cy="1283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Select XGBoost or SARIMA in the sidebar.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67AF3B6-A201-4A83-B758-034D6B97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100858"/>
            <a:ext cx="194444" cy="121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750">
                <a:solidFill>
                  <a:srgbClr val="FFFFFF"/>
                </a:solidFill>
                <a:latin typeface="Nunito Light"/>
                <a:ea typeface="Nunito Light"/>
                <a:cs typeface="Nunito Light"/>
              </a:rPr>
              <a:t>02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31B8FC0-AEF2-47FD-8B51-CF4014C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251770"/>
            <a:ext cx="466784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42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AFCCAA8-D5CB-4CD1-A3C4-B1E0ABB0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328937"/>
            <a:ext cx="1144042" cy="142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Set Horizon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DCFB37F0-6666-4047-9748-70EF987A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509763"/>
            <a:ext cx="4667845" cy="1283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Adjust the Streamlit slider from 1 to 26 weeks.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8D57E39-F070-4345-BC1A-191BD966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774231"/>
            <a:ext cx="194444" cy="121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750">
                <a:solidFill>
                  <a:srgbClr val="FFFFFF"/>
                </a:solidFill>
                <a:latin typeface="Nunito Light"/>
                <a:ea typeface="Nunito Light"/>
                <a:cs typeface="Nunito Light"/>
              </a:rPr>
              <a:t>03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E83ECF7-BC45-4529-90E7-3548B153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2925142"/>
            <a:ext cx="466784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78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7AD6019-4F79-42A3-A615-655DBF66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002310"/>
            <a:ext cx="1144042" cy="142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API Forecast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EB24296-17EB-4380-8F78-A9C6F386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183136"/>
            <a:ext cx="4667845" cy="1331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POST /predict</a:t>
            </a: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returns JSON forecasts.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5B6FDC9-EAB8-4D72-84C0-6AB0CD39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452366"/>
            <a:ext cx="194444" cy="121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750">
                <a:solidFill>
                  <a:srgbClr val="FFFFFF"/>
                </a:solidFill>
                <a:latin typeface="Nunito Light"/>
                <a:ea typeface="Nunito Light"/>
                <a:cs typeface="Nunito Light"/>
              </a:rPr>
              <a:t>04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E4C06D-ED8E-4572-AFAE-540F5CCC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603278"/>
            <a:ext cx="466784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A8E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81E44DF2-57B0-433B-8B70-872D9502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680445"/>
            <a:ext cx="1144042" cy="1429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9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View Results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49207B3-1A7D-4C21-BB59-3933DD7C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3861271"/>
            <a:ext cx="4667845" cy="1283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Streamlit renders a chart and forecast table; API demo shows raw JSON.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2B4E6D68-68D1-44DD-A399-2F4CA23B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577" y="4133627"/>
            <a:ext cx="4667845" cy="454372"/>
          </a:xfrm>
          <a:prstGeom xmlns:a="http://schemas.openxmlformats.org/drawingml/2006/main" prst="roundRect">
            <a:avLst>
              <a:gd name="adj" fmla="val 32104"/>
            </a:avLst>
          </a:prstGeom>
          <a:solidFill xmlns:a="http://schemas.openxmlformats.org/drawingml/2006/main">
            <a:srgbClr val="02234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d68eaf6ae4a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49762" y="4265265"/>
            <a:ext cx="121518" cy="97185"/>
          </a:xfrm>
          <a:prstGeom xmlns:a="http://schemas.openxmlformats.org/drawingml/2006/main" prst="rect">
            <a:avLst/>
          </a:prstGeom>
        </p:spPr>
      </p:pic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E35904E-0D35-4E65-88DA-80C9210B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465" y="4221063"/>
            <a:ext cx="4254773" cy="2614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750" b="1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Try it yourself:</a:t>
            </a: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</a:t>
            </a:r>
            <a:r>
              <a:rPr sz="75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curl -X POST /predict -d '{ "horizon": 8, "method": "xgboost" }'</a:t>
            </a:r>
            <a:r>
              <a:rPr sz="75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· </a:t>
            </a:r>
            <a:r>
              <a:rPr sz="750" u="sng">
                <a:solidFill>
                  <a:srgbClr val="F2B42D"/>
                </a:solidFill>
                <a:latin typeface="PT Sans"/>
                <a:ea typeface="PT Sans"/>
                <a:cs typeface="PT Sans"/>
                <a:hlinkClick xmlns:r="http://schemas.openxmlformats.org/officeDocument/2006/relationships" r:id="R41f64085554f441d"/>
              </a:rPr>
              <a:t>Open Streamlit App →</a:t>
            </a:r>
          </a:p>
        </p:txBody>
      </p:sp>
    </p:spTree>
    <p:extLst>
      <p:ext uri="{BB962C8B-B14F-4D97-AF65-F5344CB8AC3E}">
        <p14:creationId xmlns:p14="http://schemas.microsoft.com/office/powerpoint/2010/main" val="16838437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714FE4-D8B8-4DAA-9511-C6F74B7B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430188"/>
            <a:ext cx="808583" cy="281657"/>
          </a:xfrm>
          <a:prstGeom xmlns:a="http://schemas.openxmlformats.org/drawingml/2006/main" prst="roundRect">
            <a:avLst>
              <a:gd name="adj" fmla="val 605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2B4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F23EE9-5593-4426-992A-CB8D5DDB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81" y="482352"/>
            <a:ext cx="1076176" cy="177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850">
                <a:solidFill>
                  <a:srgbClr val="F2B42D"/>
                </a:solidFill>
                <a:latin typeface="PT Sans"/>
                <a:ea typeface="PT Sans"/>
                <a:cs typeface="PT Sans"/>
              </a:rPr>
              <a:t>REFLECTION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B459C4-FDA4-4D45-9BC5-BC78FA40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765795"/>
            <a:ext cx="8096845" cy="835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26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The Main Work Was Turning a Model Into a Reliable Deployed System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14C6782-130A-43C5-9241-4027CB7D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1939230"/>
            <a:ext cx="2129284" cy="208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Challenges Solved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863C92A-6F01-450F-AA87-BD7A14FA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2283172"/>
            <a:ext cx="3875038" cy="1424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Cloud Run required separate API/UI services with correct </a:t>
            </a:r>
            <a:r>
              <a:rPr sz="11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MODEL_API_URL</a:t>
            </a: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wiring</a:t>
            </a:r>
          </a:p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SARIMA artifact was initially too large — compact parameter storage made deployment practical</a:t>
            </a:r>
          </a:p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SARIMA needed 1 Gi Cloud Run memory to avoid instance termination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D2C99FE-599D-4DF1-8F2A-3BD71FA1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147" y="1939230"/>
            <a:ext cx="2129284" cy="2089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4000"/>
              </a:lnSpc>
              <a:buNone/>
            </a:pPr>
            <a:r>
              <a:rPr sz="1300">
                <a:solidFill>
                  <a:srgbClr val="FFFFFF"/>
                </a:solidFill>
                <a:latin typeface="Nunito SemiBold"/>
                <a:ea typeface="Nunito SemiBold"/>
                <a:cs typeface="Nunito SemiBold"/>
              </a:rPr>
              <a:t>AI Assistant Role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9E207E-B3AD-4A06-AB24-100756BF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0147" y="2283172"/>
            <a:ext cx="3875038" cy="1424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Scaffolded Flask/Streamlit integration, Docker commands, and troubleshooting</a:t>
            </a:r>
          </a:p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Generated draft code, then manually checked and aligned to course requirements</a:t>
            </a:r>
          </a:p>
          <a:p xmlns:a="http://schemas.openxmlformats.org/drawingml/2006/main">
            <a:pPr marL="342900" indent="-342900" algn="l">
              <a:lnSpc>
                <a:spcPct val="130000"/>
              </a:lnSpc>
              <a:buChar char="•"/>
            </a:pP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Key lesson: AI is strongest when paired with tests, logs, and explicit verification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9AD30D4-1106-4D89-867F-775AA682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7" y="3906887"/>
            <a:ext cx="8096845" cy="806425"/>
          </a:xfrm>
          <a:prstGeom xmlns:a="http://schemas.openxmlformats.org/drawingml/2006/main" prst="roundRect">
            <a:avLst>
              <a:gd name="adj" fmla="val 26438"/>
            </a:avLst>
          </a:prstGeom>
          <a:solidFill xmlns:a="http://schemas.openxmlformats.org/drawingml/2006/main">
            <a:srgbClr val="48330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3da0a54e245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708" y="4122018"/>
            <a:ext cx="177626" cy="142131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1052C33-67E6-4E5A-ACF3-82BAFF29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65" y="4077370"/>
            <a:ext cx="7492826" cy="4433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buNone/>
            </a:pPr>
            <a:r>
              <a:rPr sz="1100" b="1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Future Work:</a:t>
            </a:r>
            <a:r>
              <a:rPr sz="110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 Scheduled EIA refresh, broader feature engineering, confidence intervals, SHAP feature importance view, and leaner dependency files for faster rebuilds.</a:t>
            </a:r>
          </a:p>
        </p:txBody>
      </p:sp>
    </p:spTree>
    <p:extLst>
      <p:ext uri="{BB962C8B-B14F-4D97-AF65-F5344CB8AC3E}">
        <p14:creationId xmlns:p14="http://schemas.microsoft.com/office/powerpoint/2010/main" val="297714751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2026-05-29T22:53:51.3250000Z</dcterms:created>
  <dcterms:modified xsi:type="dcterms:W3CDTF">2026-05-29T22:53:51.3250000Z</dcterms:modified>
</coreProperties>
</file>